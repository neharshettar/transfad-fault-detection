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25"/>
  </p:notesMasterIdLst>
  <p:sldIdLst>
    <p:sldId id="280" r:id="rId2"/>
    <p:sldId id="285" r:id="rId3"/>
    <p:sldId id="276" r:id="rId4"/>
    <p:sldId id="272" r:id="rId5"/>
    <p:sldId id="257" r:id="rId6"/>
    <p:sldId id="281" r:id="rId7"/>
    <p:sldId id="258" r:id="rId8"/>
    <p:sldId id="259" r:id="rId9"/>
    <p:sldId id="282" r:id="rId10"/>
    <p:sldId id="261" r:id="rId11"/>
    <p:sldId id="263" r:id="rId12"/>
    <p:sldId id="262" r:id="rId13"/>
    <p:sldId id="283" r:id="rId14"/>
    <p:sldId id="284" r:id="rId15"/>
    <p:sldId id="277" r:id="rId16"/>
    <p:sldId id="264" r:id="rId17"/>
    <p:sldId id="274" r:id="rId18"/>
    <p:sldId id="267" r:id="rId19"/>
    <p:sldId id="278" r:id="rId20"/>
    <p:sldId id="268" r:id="rId21"/>
    <p:sldId id="279" r:id="rId22"/>
    <p:sldId id="273" r:id="rId23"/>
    <p:sldId id="2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C2BB41-DDC2-4333-BB31-6FBE10FDE7E5}" type="datetimeFigureOut">
              <a:rPr lang="en-IN" smtClean="0"/>
              <a:t>18-01-2026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072DF-B8C5-44DC-BE6B-6A030BEE6675}" type="slidenum">
              <a:rPr lang="en-IN" smtClean="0"/>
              <a:t>‹#›</a:t>
            </a:fld>
            <a:endParaRPr lang="en-IN"/>
          </a:p>
        </p:txBody>
      </p:sp>
    </p:spTree>
    <p:extLst>
      <p:ext uri="{BB962C8B-B14F-4D97-AF65-F5344CB8AC3E}">
        <p14:creationId xmlns:p14="http://schemas.microsoft.com/office/powerpoint/2010/main" val="1773083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15FD3-8D31-5477-0464-0313C4B383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F53159A-9A2D-FF1D-CE04-AECFF18844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608E76-0034-A9BF-A9C1-C7000C1B8FF6}"/>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5" name="Footer Placeholder 4">
            <a:extLst>
              <a:ext uri="{FF2B5EF4-FFF2-40B4-BE49-F238E27FC236}">
                <a16:creationId xmlns:a16="http://schemas.microsoft.com/office/drawing/2014/main" id="{78BBD0E8-CAA2-DD02-ECE1-1ADA448E66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168EBB-7FEA-4EB7-646F-57AC3872FBCC}"/>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217916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02555-A685-D41E-4389-0981F696B9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EAC7ED-9DB3-6D2B-3690-092548A922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6F6515-8BFD-C698-920F-881E072349B8}"/>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5" name="Footer Placeholder 4">
            <a:extLst>
              <a:ext uri="{FF2B5EF4-FFF2-40B4-BE49-F238E27FC236}">
                <a16:creationId xmlns:a16="http://schemas.microsoft.com/office/drawing/2014/main" id="{12D9F324-8867-2DE8-ECC7-86090B0668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767A95-94F3-A0DD-FB39-0CFA611DD1FC}"/>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173686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7798B-76B0-771B-6A89-92FF21AE8C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5ADD2C-85A5-E2B3-3045-F96568F963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16C97D-424A-DCB0-CB23-F125C5F8610A}"/>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5" name="Footer Placeholder 4">
            <a:extLst>
              <a:ext uri="{FF2B5EF4-FFF2-40B4-BE49-F238E27FC236}">
                <a16:creationId xmlns:a16="http://schemas.microsoft.com/office/drawing/2014/main" id="{F58C4A91-36F6-8F13-D0C5-F5211E3341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D15A1-F69C-AAAF-FA21-2AD14BA075A6}"/>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2884738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D892A-878C-EEF3-5058-2307052A0A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68A6B0-E9F2-B959-7088-660E9D88E7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5F8F7B-676B-4DA0-66B7-5DAB3E3F4D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E73DF7-DCA4-BD02-96B1-42535594123A}"/>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6" name="Footer Placeholder 5">
            <a:extLst>
              <a:ext uri="{FF2B5EF4-FFF2-40B4-BE49-F238E27FC236}">
                <a16:creationId xmlns:a16="http://schemas.microsoft.com/office/drawing/2014/main" id="{8A20E296-BEBB-7EBE-ABC1-65BA74E16E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B6C9C7-15D5-FCFB-D0FB-06EF5B86791B}"/>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2500895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240FB-5251-18A9-6890-669FB22C91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512AB9-8EA4-C7E7-3DA1-1860DB2FF6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2B1FC1-C64B-759B-A7F0-C55064A9E8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6AD9BD-75EF-1757-4E84-62DB17BD74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057AD6-AB38-AD7E-CF9A-5729DC93CB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C23F628-C445-4F23-5A29-C4DEE3FFEA20}"/>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8" name="Footer Placeholder 7">
            <a:extLst>
              <a:ext uri="{FF2B5EF4-FFF2-40B4-BE49-F238E27FC236}">
                <a16:creationId xmlns:a16="http://schemas.microsoft.com/office/drawing/2014/main" id="{4BB2B839-71A9-9021-58EB-7E9C4605C0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B1E596-A423-EDFE-00F3-AED389F62787}"/>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1733129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7CCCC-A862-89D6-90DB-6963B239BE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AF0713-311F-26A6-02C7-3B3F0E7D535D}"/>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4" name="Footer Placeholder 3">
            <a:extLst>
              <a:ext uri="{FF2B5EF4-FFF2-40B4-BE49-F238E27FC236}">
                <a16:creationId xmlns:a16="http://schemas.microsoft.com/office/drawing/2014/main" id="{B4893FE5-C4A4-3F83-3B24-2F826994123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7032CE6-0A77-F0B9-AEA0-E1AD945C2AE2}"/>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1243572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07A72F-1C9B-5C5E-A11F-BF21B2F71432}"/>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3" name="Footer Placeholder 2">
            <a:extLst>
              <a:ext uri="{FF2B5EF4-FFF2-40B4-BE49-F238E27FC236}">
                <a16:creationId xmlns:a16="http://schemas.microsoft.com/office/drawing/2014/main" id="{8744AD0D-ED7F-6DAE-D06D-9EA8F70848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0A815A-44C3-9305-E03F-C2E3F8A7E662}"/>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2452397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37382-9EA0-2580-4356-42C8D566D3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1D6A2B-205E-3959-FD38-72D5A96BE0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431C67-321E-E52C-A727-C18A446BE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9860C6-7C78-F6D7-AD52-2D108CA6A60F}"/>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6" name="Footer Placeholder 5">
            <a:extLst>
              <a:ext uri="{FF2B5EF4-FFF2-40B4-BE49-F238E27FC236}">
                <a16:creationId xmlns:a16="http://schemas.microsoft.com/office/drawing/2014/main" id="{E4D9E0E9-9DAC-65F9-3BE1-F9C4263630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0E9F7B-DF6D-224C-0B6C-30041E5A2BB9}"/>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1466787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24B1-7AAE-E2B7-1224-6D3C51A1F7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90172A-242A-5284-FF4B-BA7D353E4E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15F47C-9F84-4403-5AB0-8AB02DB36A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E6C734-EFA7-A20F-0307-E94DFD9D4564}"/>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6" name="Footer Placeholder 5">
            <a:extLst>
              <a:ext uri="{FF2B5EF4-FFF2-40B4-BE49-F238E27FC236}">
                <a16:creationId xmlns:a16="http://schemas.microsoft.com/office/drawing/2014/main" id="{09ACC14E-C3D7-4B41-EF1D-8FD3CE3F75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8D9C95-B218-2FD2-A019-AE9A48A65657}"/>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2419923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EF65D-669A-5BB0-4758-F38A2A24DD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918AA1-69D1-4D73-4C1D-A7176DFE2C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DBBAA1-D167-1EDB-D755-82D12178D03B}"/>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5" name="Footer Placeholder 4">
            <a:extLst>
              <a:ext uri="{FF2B5EF4-FFF2-40B4-BE49-F238E27FC236}">
                <a16:creationId xmlns:a16="http://schemas.microsoft.com/office/drawing/2014/main" id="{95E8FDBE-209E-B995-6922-BECAC35F37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7F9DB7-A03A-6745-A390-4C69C805D57C}"/>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2235415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231544-FCFD-B8EB-F1E9-AF0A27F219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D266BA-28F6-C4EC-079F-38AE3CDED2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0BA72F-4EEC-DFA9-A994-263298796ADC}"/>
              </a:ext>
            </a:extLst>
          </p:cNvPr>
          <p:cNvSpPr>
            <a:spLocks noGrp="1"/>
          </p:cNvSpPr>
          <p:nvPr>
            <p:ph type="dt" sz="half" idx="10"/>
          </p:nvPr>
        </p:nvSpPr>
        <p:spPr/>
        <p:txBody>
          <a:bodyPr/>
          <a:lstStyle/>
          <a:p>
            <a:fld id="{D6AFEA65-8533-4B99-BEB9-DB858DAD88F4}" type="datetimeFigureOut">
              <a:rPr lang="en-IN" smtClean="0"/>
              <a:t>18-01-2026</a:t>
            </a:fld>
            <a:endParaRPr lang="en-IN"/>
          </a:p>
        </p:txBody>
      </p:sp>
      <p:sp>
        <p:nvSpPr>
          <p:cNvPr id="5" name="Footer Placeholder 4">
            <a:extLst>
              <a:ext uri="{FF2B5EF4-FFF2-40B4-BE49-F238E27FC236}">
                <a16:creationId xmlns:a16="http://schemas.microsoft.com/office/drawing/2014/main" id="{52E55392-E0C3-7873-67B1-4E9A2333DC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165954-0187-72A9-0878-17DDFBC6EB5E}"/>
              </a:ext>
            </a:extLst>
          </p:cNvPr>
          <p:cNvSpPr>
            <a:spLocks noGrp="1"/>
          </p:cNvSpPr>
          <p:nvPr>
            <p:ph type="sldNum" sz="quarter" idx="12"/>
          </p:nvPr>
        </p:nvSpPr>
        <p:spPr/>
        <p:txBody>
          <a:bodyPr/>
          <a:lstStyle/>
          <a:p>
            <a:fld id="{8B25573F-BE7B-4726-A956-2577A70F1919}" type="slidenum">
              <a:rPr lang="en-IN" smtClean="0"/>
              <a:t>‹#›</a:t>
            </a:fld>
            <a:endParaRPr lang="en-IN"/>
          </a:p>
        </p:txBody>
      </p:sp>
    </p:spTree>
    <p:extLst>
      <p:ext uri="{BB962C8B-B14F-4D97-AF65-F5344CB8AC3E}">
        <p14:creationId xmlns:p14="http://schemas.microsoft.com/office/powerpoint/2010/main" val="4052494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4A005C-D3D4-1828-48D2-CBA16FE76A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D3EDE6-8BB0-BD47-14E5-8BB334AD4F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0B4A4F-0DF5-39BF-F7E9-5654B34753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AFEA65-8533-4B99-BEB9-DB858DAD88F4}" type="datetimeFigureOut">
              <a:rPr lang="en-IN" smtClean="0"/>
              <a:t>18-01-2026</a:t>
            </a:fld>
            <a:endParaRPr lang="en-IN"/>
          </a:p>
        </p:txBody>
      </p:sp>
      <p:sp>
        <p:nvSpPr>
          <p:cNvPr id="5" name="Footer Placeholder 4">
            <a:extLst>
              <a:ext uri="{FF2B5EF4-FFF2-40B4-BE49-F238E27FC236}">
                <a16:creationId xmlns:a16="http://schemas.microsoft.com/office/drawing/2014/main" id="{C169E75F-D24C-D2B3-B9E2-67242A1D7C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AA40A1-3AB5-BBE7-E9E4-DE803327EA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25573F-BE7B-4726-A956-2577A70F1919}" type="slidenum">
              <a:rPr lang="en-IN" smtClean="0"/>
              <a:t>‹#›</a:t>
            </a:fld>
            <a:endParaRPr lang="en-IN"/>
          </a:p>
        </p:txBody>
      </p:sp>
    </p:spTree>
    <p:extLst>
      <p:ext uri="{BB962C8B-B14F-4D97-AF65-F5344CB8AC3E}">
        <p14:creationId xmlns:p14="http://schemas.microsoft.com/office/powerpoint/2010/main" val="147763736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C7E1B-66B3-E759-6742-1B23D7EF3562}"/>
            </a:ext>
          </a:extLst>
        </p:cNvPr>
        <p:cNvGrpSpPr/>
        <p:nvPr/>
      </p:nvGrpSpPr>
      <p:grpSpPr>
        <a:xfrm>
          <a:off x="0" y="0"/>
          <a:ext cx="0" cy="0"/>
          <a:chOff x="0" y="0"/>
          <a:chExt cx="0" cy="0"/>
        </a:xfrm>
      </p:grpSpPr>
      <p:pic>
        <p:nvPicPr>
          <p:cNvPr id="2" name="Google Shape;55;p13">
            <a:extLst>
              <a:ext uri="{FF2B5EF4-FFF2-40B4-BE49-F238E27FC236}">
                <a16:creationId xmlns:a16="http://schemas.microsoft.com/office/drawing/2014/main" id="{5F69E3E0-2110-91A2-8210-C21699607C73}"/>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3" name="Google Shape;56;p13">
            <a:extLst>
              <a:ext uri="{FF2B5EF4-FFF2-40B4-BE49-F238E27FC236}">
                <a16:creationId xmlns:a16="http://schemas.microsoft.com/office/drawing/2014/main" id="{35F72816-DB94-3F0F-85E5-45249455DF46}"/>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4" name="Google Shape;61;p13">
            <a:extLst>
              <a:ext uri="{FF2B5EF4-FFF2-40B4-BE49-F238E27FC236}">
                <a16:creationId xmlns:a16="http://schemas.microsoft.com/office/drawing/2014/main" id="{750A7588-E3FC-6B38-009B-8AFEBFDAF7DD}"/>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6" name="TextBox 5">
            <a:extLst>
              <a:ext uri="{FF2B5EF4-FFF2-40B4-BE49-F238E27FC236}">
                <a16:creationId xmlns:a16="http://schemas.microsoft.com/office/drawing/2014/main" id="{E7BF3AB4-7E9E-A68D-6A14-779BED34532C}"/>
              </a:ext>
            </a:extLst>
          </p:cNvPr>
          <p:cNvSpPr txBox="1"/>
          <p:nvPr/>
        </p:nvSpPr>
        <p:spPr>
          <a:xfrm>
            <a:off x="6292645" y="6384098"/>
            <a:ext cx="6096000" cy="369332"/>
          </a:xfrm>
          <a:prstGeom prst="rect">
            <a:avLst/>
          </a:prstGeom>
          <a:noFill/>
        </p:spPr>
        <p:txBody>
          <a:bodyPr wrap="square">
            <a:spAutoFit/>
          </a:bodyPr>
          <a:lstStyle/>
          <a:p>
            <a:r>
              <a:rPr lang="en-US" dirty="0"/>
              <a:t>Department of Electronics &amp; Communication Engineering </a:t>
            </a:r>
            <a:endParaRPr lang="en-IN" dirty="0"/>
          </a:p>
        </p:txBody>
      </p:sp>
      <p:sp>
        <p:nvSpPr>
          <p:cNvPr id="7" name="TextBox 6">
            <a:extLst>
              <a:ext uri="{FF2B5EF4-FFF2-40B4-BE49-F238E27FC236}">
                <a16:creationId xmlns:a16="http://schemas.microsoft.com/office/drawing/2014/main" id="{12E637CD-C4FF-D319-AD78-B11A9059027F}"/>
              </a:ext>
            </a:extLst>
          </p:cNvPr>
          <p:cNvSpPr txBox="1"/>
          <p:nvPr/>
        </p:nvSpPr>
        <p:spPr>
          <a:xfrm>
            <a:off x="474404" y="1284050"/>
            <a:ext cx="11253024" cy="523220"/>
          </a:xfrm>
          <a:prstGeom prst="rect">
            <a:avLst/>
          </a:prstGeom>
          <a:noFill/>
        </p:spPr>
        <p:txBody>
          <a:bodyPr wrap="square" rtlCol="0">
            <a:spAutoFit/>
          </a:bodyPr>
          <a:lstStyle/>
          <a:p>
            <a:pPr algn="ctr"/>
            <a:r>
              <a:rPr lang="en-US" sz="2800" b="1" dirty="0">
                <a:latin typeface="+mj-lt"/>
              </a:rPr>
              <a:t>Machine Learning &amp; Deep Learning (24EECC309)</a:t>
            </a:r>
            <a:endParaRPr lang="en-IN" sz="2800" b="1" dirty="0">
              <a:latin typeface="+mj-lt"/>
            </a:endParaRPr>
          </a:p>
        </p:txBody>
      </p:sp>
      <p:sp>
        <p:nvSpPr>
          <p:cNvPr id="10" name="TextBox 9">
            <a:extLst>
              <a:ext uri="{FF2B5EF4-FFF2-40B4-BE49-F238E27FC236}">
                <a16:creationId xmlns:a16="http://schemas.microsoft.com/office/drawing/2014/main" id="{16D716EF-DDE2-6724-3312-4C54A07EAA3F}"/>
              </a:ext>
            </a:extLst>
          </p:cNvPr>
          <p:cNvSpPr txBox="1"/>
          <p:nvPr/>
        </p:nvSpPr>
        <p:spPr>
          <a:xfrm>
            <a:off x="795417" y="2259898"/>
            <a:ext cx="11201402" cy="1631216"/>
          </a:xfrm>
          <a:prstGeom prst="rect">
            <a:avLst/>
          </a:prstGeom>
          <a:noFill/>
        </p:spPr>
        <p:txBody>
          <a:bodyPr wrap="square" rtlCol="0">
            <a:spAutoFit/>
          </a:bodyPr>
          <a:lstStyle/>
          <a:p>
            <a:r>
              <a:rPr lang="en-US" sz="3200" b="1" dirty="0" err="1"/>
              <a:t>TransFAD</a:t>
            </a:r>
            <a:r>
              <a:rPr lang="en-US" sz="3200" b="1" dirty="0"/>
              <a:t>: Hybrid CNN–LSTM and Ensemble-Based Approach for Transmission Line Fault Detection and Classification</a:t>
            </a:r>
            <a:endParaRPr lang="en-IN" sz="3200" b="1" dirty="0"/>
          </a:p>
          <a:p>
            <a:endParaRPr lang="en-US" dirty="0"/>
          </a:p>
          <a:p>
            <a:endParaRPr lang="en-US" dirty="0"/>
          </a:p>
        </p:txBody>
      </p:sp>
      <p:graphicFrame>
        <p:nvGraphicFramePr>
          <p:cNvPr id="11" name="Table 10">
            <a:extLst>
              <a:ext uri="{FF2B5EF4-FFF2-40B4-BE49-F238E27FC236}">
                <a16:creationId xmlns:a16="http://schemas.microsoft.com/office/drawing/2014/main" id="{73ABA232-A793-5E22-1A29-359554104B66}"/>
              </a:ext>
            </a:extLst>
          </p:cNvPr>
          <p:cNvGraphicFramePr>
            <a:graphicFrameLocks noGrp="1"/>
          </p:cNvGraphicFramePr>
          <p:nvPr>
            <p:extLst>
              <p:ext uri="{D42A27DB-BD31-4B8C-83A1-F6EECF244321}">
                <p14:modId xmlns:p14="http://schemas.microsoft.com/office/powerpoint/2010/main" val="2336977901"/>
              </p:ext>
            </p:extLst>
          </p:nvPr>
        </p:nvGraphicFramePr>
        <p:xfrm>
          <a:off x="1914513" y="3642185"/>
          <a:ext cx="8127999" cy="1785847"/>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462046857"/>
                    </a:ext>
                  </a:extLst>
                </a:gridCol>
                <a:gridCol w="2709333">
                  <a:extLst>
                    <a:ext uri="{9D8B030D-6E8A-4147-A177-3AD203B41FA5}">
                      <a16:colId xmlns:a16="http://schemas.microsoft.com/office/drawing/2014/main" val="152684997"/>
                    </a:ext>
                  </a:extLst>
                </a:gridCol>
                <a:gridCol w="2709333">
                  <a:extLst>
                    <a:ext uri="{9D8B030D-6E8A-4147-A177-3AD203B41FA5}">
                      <a16:colId xmlns:a16="http://schemas.microsoft.com/office/drawing/2014/main" val="1610470657"/>
                    </a:ext>
                  </a:extLst>
                </a:gridCol>
              </a:tblGrid>
              <a:tr h="441859">
                <a:tc>
                  <a:txBody>
                    <a:bodyPr/>
                    <a:lstStyle/>
                    <a:p>
                      <a:r>
                        <a:rPr lang="en-US" dirty="0"/>
                        <a:t>Name </a:t>
                      </a:r>
                      <a:endParaRPr lang="en-IN" dirty="0"/>
                    </a:p>
                  </a:txBody>
                  <a:tcPr/>
                </a:tc>
                <a:tc>
                  <a:txBody>
                    <a:bodyPr/>
                    <a:lstStyle/>
                    <a:p>
                      <a:r>
                        <a:rPr lang="en-US" dirty="0"/>
                        <a:t>USN</a:t>
                      </a:r>
                      <a:endParaRPr lang="en-IN" dirty="0"/>
                    </a:p>
                  </a:txBody>
                  <a:tcPr/>
                </a:tc>
                <a:tc>
                  <a:txBody>
                    <a:bodyPr/>
                    <a:lstStyle/>
                    <a:p>
                      <a:r>
                        <a:rPr lang="en-US" dirty="0"/>
                        <a:t>Roll No </a:t>
                      </a:r>
                      <a:endParaRPr lang="en-IN" dirty="0"/>
                    </a:p>
                  </a:txBody>
                  <a:tcPr/>
                </a:tc>
                <a:extLst>
                  <a:ext uri="{0D108BD9-81ED-4DB2-BD59-A6C34878D82A}">
                    <a16:rowId xmlns:a16="http://schemas.microsoft.com/office/drawing/2014/main" val="3838663751"/>
                  </a:ext>
                </a:extLst>
              </a:tr>
              <a:tr h="447996">
                <a:tc>
                  <a:txBody>
                    <a:bodyPr/>
                    <a:lstStyle/>
                    <a:p>
                      <a:r>
                        <a:rPr lang="en-US" dirty="0"/>
                        <a:t>Neha R Shettar</a:t>
                      </a:r>
                      <a:endParaRPr lang="en-IN" dirty="0"/>
                    </a:p>
                  </a:txBody>
                  <a:tcPr/>
                </a:tc>
                <a:tc>
                  <a:txBody>
                    <a:bodyPr/>
                    <a:lstStyle/>
                    <a:p>
                      <a:r>
                        <a:rPr lang="en-US" dirty="0"/>
                        <a:t>01FE23BEC058</a:t>
                      </a:r>
                      <a:endParaRPr lang="en-IN" dirty="0"/>
                    </a:p>
                  </a:txBody>
                  <a:tcPr/>
                </a:tc>
                <a:tc>
                  <a:txBody>
                    <a:bodyPr/>
                    <a:lstStyle/>
                    <a:p>
                      <a:r>
                        <a:rPr lang="en-US" dirty="0"/>
                        <a:t>240</a:t>
                      </a:r>
                      <a:endParaRPr lang="en-IN" dirty="0"/>
                    </a:p>
                  </a:txBody>
                  <a:tcPr/>
                </a:tc>
                <a:extLst>
                  <a:ext uri="{0D108BD9-81ED-4DB2-BD59-A6C34878D82A}">
                    <a16:rowId xmlns:a16="http://schemas.microsoft.com/office/drawing/2014/main" val="1413684068"/>
                  </a:ext>
                </a:extLst>
              </a:tr>
              <a:tr h="447996">
                <a:tc>
                  <a:txBody>
                    <a:bodyPr/>
                    <a:lstStyle/>
                    <a:p>
                      <a:r>
                        <a:rPr lang="en-US" dirty="0"/>
                        <a:t>Sahana M </a:t>
                      </a:r>
                      <a:r>
                        <a:rPr lang="en-US" dirty="0" err="1"/>
                        <a:t>Dasanakoppa</a:t>
                      </a:r>
                      <a:endParaRPr lang="en-IN" dirty="0"/>
                    </a:p>
                  </a:txBody>
                  <a:tcPr/>
                </a:tc>
                <a:tc>
                  <a:txBody>
                    <a:bodyPr/>
                    <a:lstStyle/>
                    <a:p>
                      <a:r>
                        <a:rPr lang="en-US" dirty="0"/>
                        <a:t>01FE23BEC027</a:t>
                      </a:r>
                      <a:endParaRPr lang="en-IN" dirty="0"/>
                    </a:p>
                  </a:txBody>
                  <a:tcPr/>
                </a:tc>
                <a:tc>
                  <a:txBody>
                    <a:bodyPr/>
                    <a:lstStyle/>
                    <a:p>
                      <a:r>
                        <a:rPr lang="en-US" dirty="0"/>
                        <a:t>220</a:t>
                      </a:r>
                      <a:endParaRPr lang="en-IN" dirty="0"/>
                    </a:p>
                  </a:txBody>
                  <a:tcPr/>
                </a:tc>
                <a:extLst>
                  <a:ext uri="{0D108BD9-81ED-4DB2-BD59-A6C34878D82A}">
                    <a16:rowId xmlns:a16="http://schemas.microsoft.com/office/drawing/2014/main" val="3474292877"/>
                  </a:ext>
                </a:extLst>
              </a:tr>
              <a:tr h="447996">
                <a:tc>
                  <a:txBody>
                    <a:bodyPr/>
                    <a:lstStyle/>
                    <a:p>
                      <a:r>
                        <a:rPr lang="en-US" dirty="0"/>
                        <a:t>Aditi M </a:t>
                      </a:r>
                      <a:r>
                        <a:rPr lang="en-US" dirty="0" err="1"/>
                        <a:t>Gorawar</a:t>
                      </a:r>
                      <a:endParaRPr lang="en-IN" dirty="0"/>
                    </a:p>
                  </a:txBody>
                  <a:tcPr/>
                </a:tc>
                <a:tc>
                  <a:txBody>
                    <a:bodyPr/>
                    <a:lstStyle/>
                    <a:p>
                      <a:r>
                        <a:rPr lang="en-US" dirty="0"/>
                        <a:t>01FE23BEC081</a:t>
                      </a:r>
                      <a:endParaRPr lang="en-IN" dirty="0"/>
                    </a:p>
                  </a:txBody>
                  <a:tcPr/>
                </a:tc>
                <a:tc>
                  <a:txBody>
                    <a:bodyPr/>
                    <a:lstStyle/>
                    <a:p>
                      <a:r>
                        <a:rPr lang="en-US" dirty="0"/>
                        <a:t>260</a:t>
                      </a:r>
                      <a:endParaRPr lang="en-IN" dirty="0"/>
                    </a:p>
                  </a:txBody>
                  <a:tcPr/>
                </a:tc>
                <a:extLst>
                  <a:ext uri="{0D108BD9-81ED-4DB2-BD59-A6C34878D82A}">
                    <a16:rowId xmlns:a16="http://schemas.microsoft.com/office/drawing/2014/main" val="1292770614"/>
                  </a:ext>
                </a:extLst>
              </a:tr>
            </a:tbl>
          </a:graphicData>
        </a:graphic>
      </p:graphicFrame>
      <p:sp>
        <p:nvSpPr>
          <p:cNvPr id="12" name="TextBox 11">
            <a:extLst>
              <a:ext uri="{FF2B5EF4-FFF2-40B4-BE49-F238E27FC236}">
                <a16:creationId xmlns:a16="http://schemas.microsoft.com/office/drawing/2014/main" id="{EF56B89A-AE8D-4827-6CAB-9302587ECB56}"/>
              </a:ext>
            </a:extLst>
          </p:cNvPr>
          <p:cNvSpPr txBox="1"/>
          <p:nvPr/>
        </p:nvSpPr>
        <p:spPr>
          <a:xfrm>
            <a:off x="1914512" y="5704259"/>
            <a:ext cx="8127999" cy="461665"/>
          </a:xfrm>
          <a:prstGeom prst="rect">
            <a:avLst/>
          </a:prstGeom>
          <a:noFill/>
        </p:spPr>
        <p:txBody>
          <a:bodyPr wrap="square" rtlCol="0">
            <a:spAutoFit/>
          </a:bodyPr>
          <a:lstStyle/>
          <a:p>
            <a:r>
              <a:rPr lang="en-US" sz="2400" b="1" dirty="0">
                <a:latin typeface="+mj-lt"/>
              </a:rPr>
              <a:t>Guide – Ramesh Tabib</a:t>
            </a:r>
            <a:endParaRPr lang="en-IN" sz="2400" b="1" dirty="0">
              <a:latin typeface="+mj-lt"/>
            </a:endParaRPr>
          </a:p>
        </p:txBody>
      </p:sp>
    </p:spTree>
    <p:extLst>
      <p:ext uri="{BB962C8B-B14F-4D97-AF65-F5344CB8AC3E}">
        <p14:creationId xmlns:p14="http://schemas.microsoft.com/office/powerpoint/2010/main" val="1081169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6BBBE-5B13-0E83-E83D-0CEF7B5EC7A0}"/>
            </a:ext>
          </a:extLst>
        </p:cNvPr>
        <p:cNvGrpSpPr/>
        <p:nvPr/>
      </p:nvGrpSpPr>
      <p:grpSpPr>
        <a:xfrm>
          <a:off x="0" y="0"/>
          <a:ext cx="0" cy="0"/>
          <a:chOff x="0" y="0"/>
          <a:chExt cx="0" cy="0"/>
        </a:xfrm>
      </p:grpSpPr>
      <p:pic>
        <p:nvPicPr>
          <p:cNvPr id="2" name="Google Shape;55;p13">
            <a:extLst>
              <a:ext uri="{FF2B5EF4-FFF2-40B4-BE49-F238E27FC236}">
                <a16:creationId xmlns:a16="http://schemas.microsoft.com/office/drawing/2014/main" id="{80035CEC-9A38-6BE4-E847-A9CAD2581000}"/>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3" name="Google Shape;56;p13">
            <a:extLst>
              <a:ext uri="{FF2B5EF4-FFF2-40B4-BE49-F238E27FC236}">
                <a16:creationId xmlns:a16="http://schemas.microsoft.com/office/drawing/2014/main" id="{444D8F00-1442-9D24-5A69-027ACE2DC185}"/>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4" name="Google Shape;61;p13">
            <a:extLst>
              <a:ext uri="{FF2B5EF4-FFF2-40B4-BE49-F238E27FC236}">
                <a16:creationId xmlns:a16="http://schemas.microsoft.com/office/drawing/2014/main" id="{D6762A4F-E18F-3EF1-041E-F09D90FD0F0B}"/>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5" name="TextBox 4">
            <a:extLst>
              <a:ext uri="{FF2B5EF4-FFF2-40B4-BE49-F238E27FC236}">
                <a16:creationId xmlns:a16="http://schemas.microsoft.com/office/drawing/2014/main" id="{672C1209-37AD-C559-E4F8-FAC669D5C071}"/>
              </a:ext>
            </a:extLst>
          </p:cNvPr>
          <p:cNvSpPr txBox="1"/>
          <p:nvPr/>
        </p:nvSpPr>
        <p:spPr>
          <a:xfrm>
            <a:off x="516193" y="1030288"/>
            <a:ext cx="2792361" cy="584775"/>
          </a:xfrm>
          <a:prstGeom prst="rect">
            <a:avLst/>
          </a:prstGeom>
          <a:noFill/>
        </p:spPr>
        <p:txBody>
          <a:bodyPr wrap="square" rtlCol="0">
            <a:spAutoFit/>
          </a:bodyPr>
          <a:lstStyle/>
          <a:p>
            <a:r>
              <a:rPr lang="en-US" sz="3200" b="1" dirty="0">
                <a:latin typeface="Aharoni" panose="02010803020104030203" pitchFamily="2" charset="-79"/>
                <a:cs typeface="Aharoni" panose="02010803020104030203" pitchFamily="2" charset="-79"/>
              </a:rPr>
              <a:t>Outline</a:t>
            </a:r>
            <a:endParaRPr lang="en-IN" sz="3600" b="1" dirty="0">
              <a:latin typeface="+mj-lt"/>
            </a:endParaRPr>
          </a:p>
        </p:txBody>
      </p:sp>
      <p:sp>
        <p:nvSpPr>
          <p:cNvPr id="11" name="TextBox 10">
            <a:extLst>
              <a:ext uri="{FF2B5EF4-FFF2-40B4-BE49-F238E27FC236}">
                <a16:creationId xmlns:a16="http://schemas.microsoft.com/office/drawing/2014/main" id="{5E663D8D-5296-7334-223E-EB658AE4F8F4}"/>
              </a:ext>
            </a:extLst>
          </p:cNvPr>
          <p:cNvSpPr txBox="1"/>
          <p:nvPr/>
        </p:nvSpPr>
        <p:spPr>
          <a:xfrm>
            <a:off x="6096000" y="6483938"/>
            <a:ext cx="6096000" cy="369332"/>
          </a:xfrm>
          <a:prstGeom prst="rect">
            <a:avLst/>
          </a:prstGeom>
          <a:noFill/>
        </p:spPr>
        <p:txBody>
          <a:bodyPr wrap="square">
            <a:spAutoFit/>
          </a:bodyPr>
          <a:lstStyle/>
          <a:p>
            <a:r>
              <a:rPr lang="en-US" dirty="0"/>
              <a:t>Department of Electronics &amp; Communication Engineering . 2</a:t>
            </a:r>
            <a:endParaRPr lang="en-IN" dirty="0"/>
          </a:p>
        </p:txBody>
      </p:sp>
      <p:sp>
        <p:nvSpPr>
          <p:cNvPr id="7" name="TextBox 6">
            <a:extLst>
              <a:ext uri="{FF2B5EF4-FFF2-40B4-BE49-F238E27FC236}">
                <a16:creationId xmlns:a16="http://schemas.microsoft.com/office/drawing/2014/main" id="{FACD7D21-D6DC-7E55-03CE-74C4036DF000}"/>
              </a:ext>
            </a:extLst>
          </p:cNvPr>
          <p:cNvSpPr txBox="1"/>
          <p:nvPr/>
        </p:nvSpPr>
        <p:spPr>
          <a:xfrm>
            <a:off x="474404" y="1753997"/>
            <a:ext cx="11253024" cy="7017306"/>
          </a:xfrm>
          <a:prstGeom prst="rect">
            <a:avLst/>
          </a:prstGeom>
          <a:noFill/>
        </p:spPr>
        <p:txBody>
          <a:bodyPr wrap="square" rtlCol="0">
            <a:spAutoFit/>
          </a:bodyPr>
          <a:lstStyle/>
          <a:p>
            <a:pPr marL="342900" indent="-342900">
              <a:buFont typeface="+mj-lt"/>
              <a:buAutoNum type="arabicPeriod"/>
            </a:pPr>
            <a:r>
              <a:rPr lang="en-US" dirty="0"/>
              <a:t>Introduction</a:t>
            </a:r>
          </a:p>
          <a:p>
            <a:pPr marL="342900" indent="-342900">
              <a:buFont typeface="+mj-lt"/>
              <a:buAutoNum type="arabicPeriod"/>
            </a:pPr>
            <a:r>
              <a:rPr lang="en-US" dirty="0"/>
              <a:t>Problem Statement</a:t>
            </a:r>
          </a:p>
          <a:p>
            <a:pPr marL="342900" indent="-342900">
              <a:buFont typeface="+mj-lt"/>
              <a:buAutoNum type="arabicPeriod"/>
            </a:pPr>
            <a:r>
              <a:rPr lang="en-US" dirty="0"/>
              <a:t>Objectives</a:t>
            </a:r>
          </a:p>
          <a:p>
            <a:pPr marL="342900" indent="-342900">
              <a:buFont typeface="+mj-lt"/>
              <a:buAutoNum type="arabicPeriod"/>
            </a:pPr>
            <a:r>
              <a:rPr lang="en-US" dirty="0"/>
              <a:t>Dataset</a:t>
            </a:r>
          </a:p>
          <a:p>
            <a:pPr marL="342900" indent="-342900">
              <a:buFont typeface="+mj-lt"/>
              <a:buAutoNum type="arabicPeriod"/>
            </a:pPr>
            <a:r>
              <a:rPr lang="en-US" dirty="0"/>
              <a:t>Literature Survey</a:t>
            </a:r>
          </a:p>
          <a:p>
            <a:pPr marL="342900" indent="-342900">
              <a:buFont typeface="+mj-lt"/>
              <a:buAutoNum type="arabicPeriod"/>
            </a:pPr>
            <a:r>
              <a:rPr lang="en-US" dirty="0"/>
              <a:t>State-of-the-Art Metrics Used</a:t>
            </a:r>
          </a:p>
          <a:p>
            <a:pPr marL="342900" indent="-342900">
              <a:buFont typeface="+mj-lt"/>
              <a:buAutoNum type="arabicPeriod"/>
            </a:pPr>
            <a:r>
              <a:rPr lang="en-US" dirty="0"/>
              <a:t>Trends in Fault Detection and Classification</a:t>
            </a:r>
          </a:p>
          <a:p>
            <a:pPr marL="342900" indent="-342900">
              <a:buFont typeface="+mj-lt"/>
              <a:buAutoNum type="arabicPeriod"/>
            </a:pPr>
            <a:r>
              <a:rPr lang="en-US" dirty="0"/>
              <a:t>Research Gaps</a:t>
            </a:r>
          </a:p>
          <a:p>
            <a:pPr marL="342900" indent="-342900">
              <a:buFont typeface="+mj-lt"/>
              <a:buAutoNum type="arabicPeriod"/>
            </a:pPr>
            <a:r>
              <a:rPr lang="en-US" dirty="0"/>
              <a:t>Block Diagram</a:t>
            </a:r>
          </a:p>
          <a:p>
            <a:pPr marL="342900" indent="-342900">
              <a:buFont typeface="+mj-lt"/>
              <a:buAutoNum type="arabicPeriod"/>
            </a:pPr>
            <a:r>
              <a:rPr lang="en-US" dirty="0"/>
              <a:t>Methodology</a:t>
            </a:r>
          </a:p>
          <a:p>
            <a:pPr marL="342900" indent="-342900">
              <a:buFont typeface="+mj-lt"/>
              <a:buAutoNum type="arabicPeriod"/>
            </a:pPr>
            <a:r>
              <a:rPr lang="en-US" dirty="0"/>
              <a:t>Results</a:t>
            </a:r>
          </a:p>
          <a:p>
            <a:pPr marL="342900" indent="-342900">
              <a:buFont typeface="+mj-lt"/>
              <a:buAutoNum type="arabicPeriod"/>
            </a:pPr>
            <a:r>
              <a:rPr lang="en-US" dirty="0"/>
              <a:t>Discussions</a:t>
            </a:r>
          </a:p>
          <a:p>
            <a:pPr marL="342900" indent="-342900">
              <a:buFont typeface="+mj-lt"/>
              <a:buAutoNum type="arabicPeriod"/>
            </a:pPr>
            <a:r>
              <a:rPr lang="en-US" dirty="0"/>
              <a:t>Conclusion</a:t>
            </a:r>
          </a:p>
          <a:p>
            <a:pPr marL="342900" indent="-342900">
              <a:buFont typeface="+mj-lt"/>
              <a:buAutoNum type="arabicPeriod"/>
            </a:pPr>
            <a:r>
              <a:rPr lang="en-US" dirty="0"/>
              <a:t>Future Work</a:t>
            </a:r>
          </a:p>
          <a:p>
            <a:pPr marL="342900" indent="-342900">
              <a:buFont typeface="+mj-lt"/>
              <a:buAutoNum type="arabicPeriod"/>
            </a:pPr>
            <a:r>
              <a:rPr lang="en-US" dirty="0"/>
              <a:t>References</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IN" dirty="0"/>
          </a:p>
        </p:txBody>
      </p:sp>
    </p:spTree>
    <p:extLst>
      <p:ext uri="{BB962C8B-B14F-4D97-AF65-F5344CB8AC3E}">
        <p14:creationId xmlns:p14="http://schemas.microsoft.com/office/powerpoint/2010/main" val="86772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55;p13">
            <a:extLst>
              <a:ext uri="{FF2B5EF4-FFF2-40B4-BE49-F238E27FC236}">
                <a16:creationId xmlns:a16="http://schemas.microsoft.com/office/drawing/2014/main" id="{4FB812F9-7BE6-A3B6-9A54-9C2862859762}"/>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B98A11DD-D078-9F18-3E99-CA1D1CF70C13}"/>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sp>
        <p:nvSpPr>
          <p:cNvPr id="7" name="TextBox 6">
            <a:extLst>
              <a:ext uri="{FF2B5EF4-FFF2-40B4-BE49-F238E27FC236}">
                <a16:creationId xmlns:a16="http://schemas.microsoft.com/office/drawing/2014/main" id="{11C71651-038C-D4BD-5156-DB12D834F5E9}"/>
              </a:ext>
            </a:extLst>
          </p:cNvPr>
          <p:cNvSpPr txBox="1"/>
          <p:nvPr/>
        </p:nvSpPr>
        <p:spPr>
          <a:xfrm>
            <a:off x="516193" y="1030288"/>
            <a:ext cx="4521200" cy="584775"/>
          </a:xfrm>
          <a:prstGeom prst="rect">
            <a:avLst/>
          </a:prstGeom>
          <a:noFill/>
        </p:spPr>
        <p:txBody>
          <a:bodyPr wrap="square" rtlCol="0">
            <a:spAutoFit/>
          </a:bodyPr>
          <a:lstStyle/>
          <a:p>
            <a:r>
              <a:rPr lang="en-IN" sz="3200" dirty="0">
                <a:latin typeface="Aharoni" panose="02010803020104030203" pitchFamily="2" charset="-79"/>
                <a:cs typeface="Aharoni" panose="02010803020104030203" pitchFamily="2" charset="-79"/>
              </a:rPr>
              <a:t>Introduction</a:t>
            </a:r>
          </a:p>
        </p:txBody>
      </p:sp>
      <p:cxnSp>
        <p:nvCxnSpPr>
          <p:cNvPr id="8" name="Google Shape;61;p13">
            <a:extLst>
              <a:ext uri="{FF2B5EF4-FFF2-40B4-BE49-F238E27FC236}">
                <a16:creationId xmlns:a16="http://schemas.microsoft.com/office/drawing/2014/main" id="{127472C1-3FBD-4D3D-31C2-47087C00C381}"/>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9" name="TextBox 8">
            <a:extLst>
              <a:ext uri="{FF2B5EF4-FFF2-40B4-BE49-F238E27FC236}">
                <a16:creationId xmlns:a16="http://schemas.microsoft.com/office/drawing/2014/main" id="{F83BCF93-0A0C-5137-F41E-3AD4694EE55A}"/>
              </a:ext>
            </a:extLst>
          </p:cNvPr>
          <p:cNvSpPr txBox="1"/>
          <p:nvPr/>
        </p:nvSpPr>
        <p:spPr>
          <a:xfrm>
            <a:off x="6096000" y="6483938"/>
            <a:ext cx="6096000" cy="369332"/>
          </a:xfrm>
          <a:prstGeom prst="rect">
            <a:avLst/>
          </a:prstGeom>
          <a:noFill/>
        </p:spPr>
        <p:txBody>
          <a:bodyPr wrap="square">
            <a:spAutoFit/>
          </a:bodyPr>
          <a:lstStyle/>
          <a:p>
            <a:r>
              <a:rPr lang="en-US" dirty="0"/>
              <a:t>Department of Electronics &amp; Communication Engineering . 3</a:t>
            </a:r>
            <a:endParaRPr lang="en-IN" dirty="0"/>
          </a:p>
        </p:txBody>
      </p:sp>
      <p:sp>
        <p:nvSpPr>
          <p:cNvPr id="2" name="TextBox 1">
            <a:extLst>
              <a:ext uri="{FF2B5EF4-FFF2-40B4-BE49-F238E27FC236}">
                <a16:creationId xmlns:a16="http://schemas.microsoft.com/office/drawing/2014/main" id="{30C47EF6-1CFD-2DE6-99A9-DF9204D56898}"/>
              </a:ext>
            </a:extLst>
          </p:cNvPr>
          <p:cNvSpPr txBox="1"/>
          <p:nvPr/>
        </p:nvSpPr>
        <p:spPr>
          <a:xfrm>
            <a:off x="474404" y="1750979"/>
            <a:ext cx="11159613" cy="4154984"/>
          </a:xfrm>
          <a:prstGeom prst="rect">
            <a:avLst/>
          </a:prstGeom>
          <a:noFill/>
        </p:spPr>
        <p:txBody>
          <a:bodyPr wrap="square" rtlCol="0">
            <a:spAutoFit/>
          </a:bodyPr>
          <a:lstStyle/>
          <a:p>
            <a:r>
              <a:rPr lang="en-US" sz="2400" dirty="0"/>
              <a:t>Reliable fault detection in transmission lines is essential for maintaining power system stability and preventing equipment damage. Conventional protection techniques based on fixed thresholds often fail under noisy conditions, transient disturbances, and varying operating scenarios. With the increasing availability of high-resolution voltage and current measurements, data-driven approaches have gained attention for fault analysis. However, standalone machine learning models struggle to capture temporal fault behavior, while deep learning models may lack robustness and interpretability. To address these limitations, this project proposes </a:t>
            </a:r>
            <a:r>
              <a:rPr lang="en-US" sz="2400" dirty="0" err="1"/>
              <a:t>TransFAD</a:t>
            </a:r>
            <a:r>
              <a:rPr lang="en-US" sz="2400" dirty="0"/>
              <a:t>, a hybrid framework that combines engineered electrical features with a CNN–LSTM-based temporal learning model and integrates their predictions using a weighted ensemble strategy for accurate and reliable transmission line fault detection and classification</a:t>
            </a:r>
            <a:endParaRPr lang="en-IN" sz="2400" dirty="0"/>
          </a:p>
        </p:txBody>
      </p:sp>
    </p:spTree>
    <p:extLst>
      <p:ext uri="{BB962C8B-B14F-4D97-AF65-F5344CB8AC3E}">
        <p14:creationId xmlns:p14="http://schemas.microsoft.com/office/powerpoint/2010/main" val="4097576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0FDF2-B7E3-7AAE-4716-25F48CDC79D0}"/>
              </a:ext>
            </a:extLst>
          </p:cNvPr>
          <p:cNvSpPr>
            <a:spLocks noGrp="1"/>
          </p:cNvSpPr>
          <p:nvPr>
            <p:ph type="title"/>
          </p:nvPr>
        </p:nvSpPr>
        <p:spPr>
          <a:xfrm>
            <a:off x="838200" y="1203143"/>
            <a:ext cx="10515600" cy="799277"/>
          </a:xfrm>
        </p:spPr>
        <p:txBody>
          <a:bodyPr/>
          <a:lstStyle/>
          <a:p>
            <a:r>
              <a:rPr lang="en-US" b="1" dirty="0">
                <a:latin typeface="Aharoni" panose="02010803020104030203" pitchFamily="2" charset="-79"/>
                <a:cs typeface="Aharoni" panose="02010803020104030203" pitchFamily="2" charset="-79"/>
              </a:rPr>
              <a:t>Problem Statement</a:t>
            </a:r>
            <a:endParaRPr lang="en-IN" dirty="0"/>
          </a:p>
        </p:txBody>
      </p:sp>
      <p:sp>
        <p:nvSpPr>
          <p:cNvPr id="3" name="Content Placeholder 2">
            <a:extLst>
              <a:ext uri="{FF2B5EF4-FFF2-40B4-BE49-F238E27FC236}">
                <a16:creationId xmlns:a16="http://schemas.microsoft.com/office/drawing/2014/main" id="{09F839AD-73B6-CF29-A008-4CD0F16FCF8F}"/>
              </a:ext>
            </a:extLst>
          </p:cNvPr>
          <p:cNvSpPr>
            <a:spLocks noGrp="1"/>
          </p:cNvSpPr>
          <p:nvPr>
            <p:ph idx="1"/>
          </p:nvPr>
        </p:nvSpPr>
        <p:spPr>
          <a:xfrm>
            <a:off x="384686" y="2143373"/>
            <a:ext cx="11422626" cy="3931474"/>
          </a:xfrm>
        </p:spPr>
        <p:txBody>
          <a:bodyPr>
            <a:normAutofit/>
          </a:bodyPr>
          <a:lstStyle/>
          <a:p>
            <a:pPr marL="0" indent="0" algn="just">
              <a:buNone/>
            </a:pPr>
            <a:r>
              <a:rPr lang="en-US" sz="2400" dirty="0"/>
              <a:t>Conventional transmission line fault detection methods rely on fixed thresholds and handcrafted rules, which are often unreliable under noisy conditions, transient disturbances, and varying operating scenarios. Existing machine learning approaches based on static electrical features fail to capture the temporal evolution of faults, while standalone deep learning models may suffer from poor generalization and limited interpretability. Therefore, there is a need for a robust and accurate fault detection framework that can effectively combine instantaneous electrical characteristics with temporal fault dynamics using voltage and current measurements.</a:t>
            </a:r>
            <a:endParaRPr lang="en-IN" sz="2400" dirty="0"/>
          </a:p>
        </p:txBody>
      </p:sp>
      <p:pic>
        <p:nvPicPr>
          <p:cNvPr id="4" name="Google Shape;55;p13">
            <a:extLst>
              <a:ext uri="{FF2B5EF4-FFF2-40B4-BE49-F238E27FC236}">
                <a16:creationId xmlns:a16="http://schemas.microsoft.com/office/drawing/2014/main" id="{2BCB02A0-CC54-C76E-5A81-8850AD13540B}"/>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224E755A-DF35-8F2D-C22C-95F7987EC152}"/>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BA291143-04ED-0717-E3A6-E7F8DD5FD781}"/>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2EC40D6B-F288-BC6E-8615-BDFB4AF99BE4}"/>
              </a:ext>
            </a:extLst>
          </p:cNvPr>
          <p:cNvSpPr txBox="1"/>
          <p:nvPr/>
        </p:nvSpPr>
        <p:spPr>
          <a:xfrm>
            <a:off x="6449961" y="6522674"/>
            <a:ext cx="6096000" cy="369332"/>
          </a:xfrm>
          <a:prstGeom prst="rect">
            <a:avLst/>
          </a:prstGeom>
          <a:noFill/>
        </p:spPr>
        <p:txBody>
          <a:bodyPr wrap="square">
            <a:spAutoFit/>
          </a:bodyPr>
          <a:lstStyle/>
          <a:p>
            <a:r>
              <a:rPr lang="en-US" dirty="0"/>
              <a:t>Department of Electronics &amp; Communication Engineering .4</a:t>
            </a:r>
            <a:endParaRPr lang="en-IN" dirty="0"/>
          </a:p>
        </p:txBody>
      </p:sp>
    </p:spTree>
    <p:extLst>
      <p:ext uri="{BB962C8B-B14F-4D97-AF65-F5344CB8AC3E}">
        <p14:creationId xmlns:p14="http://schemas.microsoft.com/office/powerpoint/2010/main" val="3763383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BAA90-BBB3-D75E-73ED-26817001A3A6}"/>
              </a:ext>
            </a:extLst>
          </p:cNvPr>
          <p:cNvSpPr>
            <a:spLocks noGrp="1"/>
          </p:cNvSpPr>
          <p:nvPr>
            <p:ph type="title"/>
          </p:nvPr>
        </p:nvSpPr>
        <p:spPr>
          <a:xfrm>
            <a:off x="509035" y="979642"/>
            <a:ext cx="10515600" cy="1010356"/>
          </a:xfrm>
        </p:spPr>
        <p:txBody>
          <a:bodyPr>
            <a:normAutofit/>
          </a:bodyPr>
          <a:lstStyle/>
          <a:p>
            <a:r>
              <a:rPr lang="en-IN" sz="3600" b="1" dirty="0">
                <a:latin typeface="Aharoni" panose="02010803020104030203" pitchFamily="2" charset="-79"/>
                <a:cs typeface="Aharoni" panose="02010803020104030203" pitchFamily="2" charset="-79"/>
              </a:rPr>
              <a:t>Objectives</a:t>
            </a:r>
          </a:p>
        </p:txBody>
      </p:sp>
      <p:pic>
        <p:nvPicPr>
          <p:cNvPr id="4" name="Google Shape;55;p13">
            <a:extLst>
              <a:ext uri="{FF2B5EF4-FFF2-40B4-BE49-F238E27FC236}">
                <a16:creationId xmlns:a16="http://schemas.microsoft.com/office/drawing/2014/main" id="{46E9F20F-3803-9C3D-7040-CE65180F5D1B}"/>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38B6FF0C-8BB2-35C4-7FA0-3A2FC7836115}"/>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EBF09022-8197-ECE5-C926-E327865E2235}"/>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B1CAB2D4-E90F-ED0A-A56C-29E3809CFE74}"/>
              </a:ext>
            </a:extLst>
          </p:cNvPr>
          <p:cNvSpPr txBox="1"/>
          <p:nvPr/>
        </p:nvSpPr>
        <p:spPr>
          <a:xfrm>
            <a:off x="6095999" y="6443957"/>
            <a:ext cx="7334865" cy="369332"/>
          </a:xfrm>
          <a:prstGeom prst="rect">
            <a:avLst/>
          </a:prstGeom>
          <a:noFill/>
        </p:spPr>
        <p:txBody>
          <a:bodyPr wrap="square">
            <a:spAutoFit/>
          </a:bodyPr>
          <a:lstStyle/>
          <a:p>
            <a:r>
              <a:rPr lang="en-US" dirty="0"/>
              <a:t>Department of Electronics &amp; Communication Engineering . 5</a:t>
            </a:r>
            <a:endParaRPr lang="en-IN" dirty="0"/>
          </a:p>
        </p:txBody>
      </p:sp>
      <p:sp>
        <p:nvSpPr>
          <p:cNvPr id="11" name="Rectangle 4">
            <a:extLst>
              <a:ext uri="{FF2B5EF4-FFF2-40B4-BE49-F238E27FC236}">
                <a16:creationId xmlns:a16="http://schemas.microsoft.com/office/drawing/2014/main" id="{14A89826-51D3-C46E-08D6-D8907B0EEB43}"/>
              </a:ext>
            </a:extLst>
          </p:cNvPr>
          <p:cNvSpPr>
            <a:spLocks noGrp="1" noChangeArrowheads="1"/>
          </p:cNvSpPr>
          <p:nvPr>
            <p:ph idx="1"/>
          </p:nvPr>
        </p:nvSpPr>
        <p:spPr bwMode="auto">
          <a:xfrm>
            <a:off x="567814" y="1905360"/>
            <a:ext cx="1115961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design a reliable transmission line fault detection and classification system using three-phase voltage and current measurements.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extract and </a:t>
            </a:r>
            <a:r>
              <a:rPr kumimoji="0" lang="en-US" altLang="en-US" sz="2400" b="0" i="0" u="none" strike="noStrike" cap="none" normalizeH="0" baseline="0" dirty="0" err="1">
                <a:ln>
                  <a:noFill/>
                </a:ln>
                <a:solidFill>
                  <a:schemeClr val="tx1"/>
                </a:solidFill>
                <a:effectLst/>
              </a:rPr>
              <a:t>utilise</a:t>
            </a:r>
            <a:r>
              <a:rPr kumimoji="0" lang="en-US" altLang="en-US" sz="2400" b="0" i="0" u="none" strike="noStrike" cap="none" normalizeH="0" baseline="0" dirty="0">
                <a:ln>
                  <a:noFill/>
                </a:ln>
                <a:solidFill>
                  <a:schemeClr val="tx1"/>
                </a:solidFill>
                <a:effectLst/>
              </a:rPr>
              <a:t> engineered electrical features for effective fault </a:t>
            </a:r>
            <a:r>
              <a:rPr kumimoji="0" lang="en-US" altLang="en-US" sz="2400" b="0" i="0" u="none" strike="noStrike" cap="none" normalizeH="0" baseline="0" dirty="0" err="1">
                <a:ln>
                  <a:noFill/>
                </a:ln>
                <a:solidFill>
                  <a:schemeClr val="tx1"/>
                </a:solidFill>
                <a:effectLst/>
              </a:rPr>
              <a:t>characterisation</a:t>
            </a:r>
            <a:r>
              <a:rPr kumimoji="0" lang="en-US" altLang="en-US" sz="2400" b="0" i="0" u="none" strike="noStrike" cap="none" normalizeH="0" baseline="0" dirty="0">
                <a:ln>
                  <a:noFill/>
                </a:ln>
                <a:solidFill>
                  <a:schemeClr val="tx1"/>
                </a:solidFill>
                <a:effectLst/>
              </a:rPr>
              <a:t> using classical machine learning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develop a CNN–LSTM–based deep learning model to capture the temporal </a:t>
            </a:r>
            <a:r>
              <a:rPr kumimoji="0" lang="en-US" altLang="en-US" sz="2400" b="0" i="0" u="none" strike="noStrike" cap="none" normalizeH="0" baseline="0" dirty="0" err="1">
                <a:ln>
                  <a:noFill/>
                </a:ln>
                <a:solidFill>
                  <a:schemeClr val="tx1"/>
                </a:solidFill>
                <a:effectLst/>
              </a:rPr>
              <a:t>behaviour</a:t>
            </a:r>
            <a:r>
              <a:rPr kumimoji="0" lang="en-US" altLang="en-US" sz="2400" b="0" i="0" u="none" strike="noStrike" cap="none" normalizeH="0" baseline="0" dirty="0">
                <a:ln>
                  <a:noFill/>
                </a:ln>
                <a:solidFill>
                  <a:schemeClr val="tx1"/>
                </a:solidFill>
                <a:effectLst/>
              </a:rPr>
              <a:t> of transmission line faults.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integrate machine learning and deep learning models using a weighted ensemble strategy to improve accuracy and robustness.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 evaluate the performance of the proposed framework using standard classification and error-based metrics.</a:t>
            </a:r>
          </a:p>
        </p:txBody>
      </p:sp>
    </p:spTree>
    <p:extLst>
      <p:ext uri="{BB962C8B-B14F-4D97-AF65-F5344CB8AC3E}">
        <p14:creationId xmlns:p14="http://schemas.microsoft.com/office/powerpoint/2010/main" val="168277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8E004-7D08-912A-849E-1C23053CF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9C8D0-CBCA-D80F-F246-EAA7C2B438F8}"/>
              </a:ext>
            </a:extLst>
          </p:cNvPr>
          <p:cNvSpPr>
            <a:spLocks noGrp="1"/>
          </p:cNvSpPr>
          <p:nvPr>
            <p:ph type="title"/>
          </p:nvPr>
        </p:nvSpPr>
        <p:spPr>
          <a:xfrm>
            <a:off x="509035" y="979642"/>
            <a:ext cx="10515600" cy="1010356"/>
          </a:xfrm>
        </p:spPr>
        <p:txBody>
          <a:bodyPr>
            <a:normAutofit/>
          </a:bodyPr>
          <a:lstStyle/>
          <a:p>
            <a:r>
              <a:rPr lang="en-US" sz="3600" b="1" dirty="0">
                <a:latin typeface="Aharoni" panose="02010803020104030203" pitchFamily="2" charset="-79"/>
                <a:cs typeface="Aharoni" panose="02010803020104030203" pitchFamily="2" charset="-79"/>
              </a:rPr>
              <a:t>Dataset</a:t>
            </a:r>
            <a:endParaRPr lang="en-IN" sz="3600" b="1" dirty="0">
              <a:latin typeface="Aharoni" panose="02010803020104030203" pitchFamily="2" charset="-79"/>
              <a:cs typeface="Aharoni" panose="02010803020104030203" pitchFamily="2" charset="-79"/>
            </a:endParaRPr>
          </a:p>
        </p:txBody>
      </p:sp>
      <p:pic>
        <p:nvPicPr>
          <p:cNvPr id="4" name="Google Shape;55;p13">
            <a:extLst>
              <a:ext uri="{FF2B5EF4-FFF2-40B4-BE49-F238E27FC236}">
                <a16:creationId xmlns:a16="http://schemas.microsoft.com/office/drawing/2014/main" id="{4F2F11AF-6010-22F8-BB67-E596EBC61590}"/>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DFFD67D3-38C5-1827-F5AF-7D7660EF5978}"/>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6ACEB9C4-691A-9AFF-D7AC-5DA703F019A6}"/>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B1D1F94A-8A00-1D77-E440-3BAAAFE91266}"/>
              </a:ext>
            </a:extLst>
          </p:cNvPr>
          <p:cNvSpPr txBox="1"/>
          <p:nvPr/>
        </p:nvSpPr>
        <p:spPr>
          <a:xfrm>
            <a:off x="6095999" y="6443957"/>
            <a:ext cx="7334865" cy="369332"/>
          </a:xfrm>
          <a:prstGeom prst="rect">
            <a:avLst/>
          </a:prstGeom>
          <a:noFill/>
        </p:spPr>
        <p:txBody>
          <a:bodyPr wrap="square">
            <a:spAutoFit/>
          </a:bodyPr>
          <a:lstStyle/>
          <a:p>
            <a:r>
              <a:rPr lang="en-US" dirty="0"/>
              <a:t>Department of Electronics &amp; Communication Engineering . 5</a:t>
            </a:r>
            <a:endParaRPr lang="en-IN" dirty="0"/>
          </a:p>
        </p:txBody>
      </p:sp>
      <mc:AlternateContent xmlns:mc="http://schemas.openxmlformats.org/markup-compatibility/2006">
        <mc:Choice xmlns:a14="http://schemas.microsoft.com/office/drawing/2010/main" Requires="a14">
          <p:sp>
            <p:nvSpPr>
              <p:cNvPr id="3" name="Rectangle 1">
                <a:extLst>
                  <a:ext uri="{FF2B5EF4-FFF2-40B4-BE49-F238E27FC236}">
                    <a16:creationId xmlns:a16="http://schemas.microsoft.com/office/drawing/2014/main" id="{91D96331-EDE5-9638-4233-196F3D5AD61D}"/>
                  </a:ext>
                </a:extLst>
              </p:cNvPr>
              <p:cNvSpPr>
                <a:spLocks noGrp="1" noChangeArrowheads="1"/>
              </p:cNvSpPr>
              <p:nvPr>
                <p:ph idx="1"/>
              </p:nvPr>
            </p:nvSpPr>
            <p:spPr bwMode="auto">
              <a:xfrm>
                <a:off x="523352" y="1871370"/>
                <a:ext cx="11159613" cy="26776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IN" sz="2400" dirty="0"/>
                  <a:t>The proposed system is evaluated using a publicly available Electrical Fault Detection dataset obtained from Kaggle. The dataset consists of synchronized three-phase voltage and current measurements, namely </a:t>
                </a:r>
                <a14:m>
                  <m:oMath xmlns:m="http://schemas.openxmlformats.org/officeDocument/2006/math">
                    <m:sSub>
                      <m:sSubPr>
                        <m:ctrlPr>
                          <a:rPr lang="ar-AE" sz="2400"/>
                        </m:ctrlPr>
                      </m:sSubPr>
                      <m:e>
                        <m:r>
                          <a:rPr lang="ar-AE" sz="2400" i="1"/>
                          <m:t>𝑉</m:t>
                        </m:r>
                      </m:e>
                      <m:sub>
                        <m:r>
                          <a:rPr lang="ar-AE" sz="2400" i="1"/>
                          <m:t>𝑎</m:t>
                        </m:r>
                      </m:sub>
                    </m:sSub>
                    <m:r>
                      <a:rPr lang="ar-AE" sz="2400"/>
                      <m:t>,</m:t>
                    </m:r>
                    <m:sSub>
                      <m:sSubPr>
                        <m:ctrlPr>
                          <a:rPr lang="ar-AE" sz="2400" i="1"/>
                        </m:ctrlPr>
                      </m:sSubPr>
                      <m:e>
                        <m:r>
                          <a:rPr lang="ar-AE" sz="2400" i="1"/>
                          <m:t>𝑉</m:t>
                        </m:r>
                      </m:e>
                      <m:sub>
                        <m:r>
                          <a:rPr lang="ar-AE" sz="2400" i="1"/>
                          <m:t>𝑏</m:t>
                        </m:r>
                      </m:sub>
                    </m:sSub>
                    <m:r>
                      <a:rPr lang="ar-AE" sz="2400"/>
                      <m:t>,</m:t>
                    </m:r>
                    <m:sSub>
                      <m:sSubPr>
                        <m:ctrlPr>
                          <a:rPr lang="ar-AE" sz="2400" i="1"/>
                        </m:ctrlPr>
                      </m:sSubPr>
                      <m:e>
                        <m:r>
                          <a:rPr lang="ar-AE" sz="2400" i="1"/>
                          <m:t>𝑉</m:t>
                        </m:r>
                      </m:e>
                      <m:sub>
                        <m:r>
                          <a:rPr lang="ar-AE" sz="2400" i="1"/>
                          <m:t>𝑐</m:t>
                        </m:r>
                      </m:sub>
                    </m:sSub>
                    <m:r>
                      <a:rPr lang="ar-AE" sz="2400"/>
                      <m:t>,</m:t>
                    </m:r>
                    <m:sSub>
                      <m:sSubPr>
                        <m:ctrlPr>
                          <a:rPr lang="ar-AE" sz="2400" i="1"/>
                        </m:ctrlPr>
                      </m:sSubPr>
                      <m:e>
                        <m:r>
                          <a:rPr lang="ar-AE" sz="2400" i="1"/>
                          <m:t>𝐼</m:t>
                        </m:r>
                      </m:e>
                      <m:sub>
                        <m:r>
                          <a:rPr lang="ar-AE" sz="2400" i="1"/>
                          <m:t>𝑎</m:t>
                        </m:r>
                      </m:sub>
                    </m:sSub>
                    <m:r>
                      <a:rPr lang="ar-AE" sz="2400"/>
                      <m:t>,</m:t>
                    </m:r>
                    <m:sSub>
                      <m:sSubPr>
                        <m:ctrlPr>
                          <a:rPr lang="ar-AE" sz="2400" i="1"/>
                        </m:ctrlPr>
                      </m:sSubPr>
                      <m:e>
                        <m:r>
                          <a:rPr lang="ar-AE" sz="2400" i="1"/>
                          <m:t>𝐼</m:t>
                        </m:r>
                      </m:e>
                      <m:sub>
                        <m:r>
                          <a:rPr lang="ar-AE" sz="2400" i="1"/>
                          <m:t>𝑏</m:t>
                        </m:r>
                      </m:sub>
                    </m:sSub>
                    <m:r>
                      <a:rPr lang="ar-AE" sz="2400"/>
                      <m:t>,</m:t>
                    </m:r>
                    <m:sSub>
                      <m:sSubPr>
                        <m:ctrlPr>
                          <a:rPr lang="ar-AE" sz="2400" i="1" smtClean="0"/>
                        </m:ctrlPr>
                      </m:sSubPr>
                      <m:e>
                        <m:r>
                          <a:rPr lang="ar-AE" sz="2400" i="1"/>
                          <m:t>𝐼</m:t>
                        </m:r>
                      </m:e>
                      <m:sub>
                        <m:r>
                          <a:rPr lang="ar-AE" sz="2400" i="1"/>
                          <m:t>𝑐</m:t>
                        </m:r>
                      </m:sub>
                    </m:sSub>
                  </m:oMath>
                </a14:m>
                <a:r>
                  <a:rPr lang="ar-AE" sz="2400" dirty="0"/>
                  <a:t>, </a:t>
                </a:r>
                <a:r>
                  <a:rPr lang="en-IN" sz="2400" dirty="0"/>
                  <a:t>recorded under normal and fault conditions. Each sample is labelled to indicate the presence or absence of a fault. The dataset reflects practical power system characteristics such as noise and class imbalance. Prior to training, the data is cleaned, normalised, and split into training and testing sets using an 80:20 ratio.</a:t>
                </a:r>
                <a:endParaRPr kumimoji="0" lang="en-US" altLang="en-US" sz="2400" b="0" i="0" u="none" strike="noStrike" cap="none" normalizeH="0" baseline="0" dirty="0">
                  <a:ln>
                    <a:noFill/>
                  </a:ln>
                  <a:solidFill>
                    <a:schemeClr val="tx1"/>
                  </a:solidFill>
                  <a:effectLst/>
                </a:endParaRPr>
              </a:p>
            </p:txBody>
          </p:sp>
        </mc:Choice>
        <mc:Fallback>
          <p:sp>
            <p:nvSpPr>
              <p:cNvPr id="3" name="Rectangle 1">
                <a:extLst>
                  <a:ext uri="{FF2B5EF4-FFF2-40B4-BE49-F238E27FC236}">
                    <a16:creationId xmlns:a16="http://schemas.microsoft.com/office/drawing/2014/main" id="{91D96331-EDE5-9638-4233-196F3D5AD61D}"/>
                  </a:ext>
                </a:extLst>
              </p:cNvPr>
              <p:cNvSpPr>
                <a:spLocks noGrp="1" noRot="1" noChangeAspect="1" noMove="1" noResize="1" noEditPoints="1" noAdjustHandles="1" noChangeArrowheads="1" noChangeShapeType="1" noTextEdit="1"/>
              </p:cNvSpPr>
              <p:nvPr>
                <p:ph idx="1"/>
              </p:nvPr>
            </p:nvSpPr>
            <p:spPr bwMode="auto">
              <a:xfrm>
                <a:off x="523352" y="1871370"/>
                <a:ext cx="11159613" cy="2677656"/>
              </a:xfrm>
              <a:prstGeom prst="rect">
                <a:avLst/>
              </a:prstGeom>
              <a:blipFill>
                <a:blip r:embed="rId3"/>
                <a:stretch>
                  <a:fillRect l="-874" t="-1367" r="-1257" b="-478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2826569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90144-DD74-88C5-1049-78E9ED2600C6}"/>
              </a:ext>
            </a:extLst>
          </p:cNvPr>
          <p:cNvSpPr>
            <a:spLocks noGrp="1"/>
          </p:cNvSpPr>
          <p:nvPr>
            <p:ph type="title"/>
          </p:nvPr>
        </p:nvSpPr>
        <p:spPr>
          <a:xfrm>
            <a:off x="635000" y="1062189"/>
            <a:ext cx="10515600" cy="727282"/>
          </a:xfrm>
        </p:spPr>
        <p:txBody>
          <a:bodyPr>
            <a:normAutofit/>
          </a:bodyPr>
          <a:lstStyle/>
          <a:p>
            <a:r>
              <a:rPr lang="en-IN" sz="3600" dirty="0">
                <a:latin typeface="Aharoni" panose="02010803020104030203" pitchFamily="2" charset="-79"/>
                <a:cs typeface="Aharoni" panose="02010803020104030203" pitchFamily="2" charset="-79"/>
              </a:rPr>
              <a:t>Literature Survey</a:t>
            </a:r>
          </a:p>
        </p:txBody>
      </p:sp>
      <p:pic>
        <p:nvPicPr>
          <p:cNvPr id="4" name="Google Shape;55;p13">
            <a:extLst>
              <a:ext uri="{FF2B5EF4-FFF2-40B4-BE49-F238E27FC236}">
                <a16:creationId xmlns:a16="http://schemas.microsoft.com/office/drawing/2014/main" id="{9241093B-2B9C-AEB3-7175-FB4A2305A5A3}"/>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7BE42112-7C60-DA43-2CA1-E3B136CAC11F}"/>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B086A488-7E75-4165-5BB1-8BCE79228C3C}"/>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7AD3B864-E923-214E-A057-4493CB463BEB}"/>
              </a:ext>
            </a:extLst>
          </p:cNvPr>
          <p:cNvSpPr txBox="1"/>
          <p:nvPr/>
        </p:nvSpPr>
        <p:spPr>
          <a:xfrm>
            <a:off x="6231192" y="6384098"/>
            <a:ext cx="6096000" cy="369332"/>
          </a:xfrm>
          <a:prstGeom prst="rect">
            <a:avLst/>
          </a:prstGeom>
          <a:noFill/>
        </p:spPr>
        <p:txBody>
          <a:bodyPr wrap="square">
            <a:spAutoFit/>
          </a:bodyPr>
          <a:lstStyle/>
          <a:p>
            <a:r>
              <a:rPr lang="en-US" dirty="0"/>
              <a:t>Department of Electronics &amp; Communication Engineering . 6</a:t>
            </a:r>
            <a:endParaRPr lang="en-IN" dirty="0"/>
          </a:p>
        </p:txBody>
      </p:sp>
      <p:sp>
        <p:nvSpPr>
          <p:cNvPr id="3" name="Content Placeholder 2">
            <a:extLst>
              <a:ext uri="{FF2B5EF4-FFF2-40B4-BE49-F238E27FC236}">
                <a16:creationId xmlns:a16="http://schemas.microsoft.com/office/drawing/2014/main" id="{797B4DF6-14BC-E481-9411-BE590A708B59}"/>
              </a:ext>
            </a:extLst>
          </p:cNvPr>
          <p:cNvSpPr>
            <a:spLocks noGrp="1"/>
          </p:cNvSpPr>
          <p:nvPr>
            <p:ph idx="1"/>
          </p:nvPr>
        </p:nvSpPr>
        <p:spPr>
          <a:xfrm>
            <a:off x="474404" y="1910079"/>
            <a:ext cx="11253024" cy="4266883"/>
          </a:xfrm>
        </p:spPr>
        <p:txBody>
          <a:bodyPr>
            <a:normAutofit/>
          </a:bodyPr>
          <a:lstStyle/>
          <a:p>
            <a:pPr marL="0" indent="0">
              <a:buNone/>
            </a:pPr>
            <a:r>
              <a:rPr lang="en-US" sz="2400" dirty="0"/>
              <a:t>Several studies have explored data-driven approaches for transmission line fault detection using voltage and current signals. Traditional machine learning techniques such as k-nearest </a:t>
            </a:r>
            <a:r>
              <a:rPr lang="en-US" sz="2400" dirty="0" err="1"/>
              <a:t>neighbours</a:t>
            </a:r>
            <a:r>
              <a:rPr lang="en-US" sz="2400" dirty="0"/>
              <a:t>, support vector machines, and decision trees have been widely used due to their simplicity and interpretability. To improve performance, signal processing methods like wavelet transforms combined with machine learning classifiers were introduced to capture transient characteristics. More recently, deep learning models such as convolutional neural networks and long short-term memory networks have been applied to model nonlinear and temporal fault </a:t>
            </a:r>
            <a:r>
              <a:rPr lang="en-US" sz="2400" dirty="0" err="1"/>
              <a:t>behaviour</a:t>
            </a:r>
            <a:r>
              <a:rPr lang="en-US" sz="2400" dirty="0"/>
              <a:t>. However, most existing methods rely on a single learning approach and fail to effectively capture both instantaneous electrical features and temporal fault dynamics, motivating the need for a hybrid framework.</a:t>
            </a:r>
            <a:endParaRPr lang="en-IN" sz="2400" dirty="0"/>
          </a:p>
        </p:txBody>
      </p:sp>
    </p:spTree>
    <p:extLst>
      <p:ext uri="{BB962C8B-B14F-4D97-AF65-F5344CB8AC3E}">
        <p14:creationId xmlns:p14="http://schemas.microsoft.com/office/powerpoint/2010/main" val="1457025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443B0-F467-667D-869A-68886A87D032}"/>
              </a:ext>
            </a:extLst>
          </p:cNvPr>
          <p:cNvSpPr>
            <a:spLocks noGrp="1"/>
          </p:cNvSpPr>
          <p:nvPr>
            <p:ph type="title"/>
          </p:nvPr>
        </p:nvSpPr>
        <p:spPr>
          <a:xfrm>
            <a:off x="516193" y="1098300"/>
            <a:ext cx="10515600" cy="763306"/>
          </a:xfrm>
        </p:spPr>
        <p:txBody>
          <a:bodyPr>
            <a:normAutofit/>
          </a:bodyPr>
          <a:lstStyle/>
          <a:p>
            <a:r>
              <a:rPr lang="en-US" sz="3600" b="1" dirty="0">
                <a:latin typeface="Aharoni" panose="02010803020104030203" pitchFamily="2" charset="-79"/>
                <a:cs typeface="Aharoni" panose="02010803020104030203" pitchFamily="2" charset="-79"/>
              </a:rPr>
              <a:t>State Of the Art Metric Used:</a:t>
            </a:r>
            <a:endParaRPr lang="en-IN" sz="3600" b="1" dirty="0">
              <a:latin typeface="Aharoni" panose="02010803020104030203" pitchFamily="2" charset="-79"/>
              <a:cs typeface="Aharoni" panose="02010803020104030203" pitchFamily="2" charset="-79"/>
            </a:endParaRPr>
          </a:p>
        </p:txBody>
      </p:sp>
      <p:pic>
        <p:nvPicPr>
          <p:cNvPr id="4" name="Google Shape;55;p13">
            <a:extLst>
              <a:ext uri="{FF2B5EF4-FFF2-40B4-BE49-F238E27FC236}">
                <a16:creationId xmlns:a16="http://schemas.microsoft.com/office/drawing/2014/main" id="{C26B7A89-8EEE-032E-7686-8F1F6A8B169C}"/>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562B33CC-8496-BAE7-63A0-51B2E5E595A0}"/>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F7B32D69-A581-B2F1-1FB2-F6DC8FB33911}"/>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7" name="TextBox 6">
            <a:extLst>
              <a:ext uri="{FF2B5EF4-FFF2-40B4-BE49-F238E27FC236}">
                <a16:creationId xmlns:a16="http://schemas.microsoft.com/office/drawing/2014/main" id="{8BED3AEA-4FBF-1AA4-0EBF-1FBA7D8984A7}"/>
              </a:ext>
            </a:extLst>
          </p:cNvPr>
          <p:cNvSpPr txBox="1"/>
          <p:nvPr/>
        </p:nvSpPr>
        <p:spPr>
          <a:xfrm>
            <a:off x="6341807" y="6488668"/>
            <a:ext cx="6096000" cy="369332"/>
          </a:xfrm>
          <a:prstGeom prst="rect">
            <a:avLst/>
          </a:prstGeom>
          <a:noFill/>
        </p:spPr>
        <p:txBody>
          <a:bodyPr wrap="square">
            <a:spAutoFit/>
          </a:bodyPr>
          <a:lstStyle/>
          <a:p>
            <a:r>
              <a:rPr lang="en-US" dirty="0"/>
              <a:t>Department of Electronics &amp; Communication Engineering . 7</a:t>
            </a:r>
            <a:endParaRPr lang="en-IN" dirty="0"/>
          </a:p>
        </p:txBody>
      </p:sp>
      <p:sp>
        <p:nvSpPr>
          <p:cNvPr id="3" name="Rectangle 1">
            <a:extLst>
              <a:ext uri="{FF2B5EF4-FFF2-40B4-BE49-F238E27FC236}">
                <a16:creationId xmlns:a16="http://schemas.microsoft.com/office/drawing/2014/main" id="{6D3C100A-21CC-A44C-878F-5467FA88F71C}"/>
              </a:ext>
            </a:extLst>
          </p:cNvPr>
          <p:cNvSpPr>
            <a:spLocks noGrp="1" noChangeArrowheads="1"/>
          </p:cNvSpPr>
          <p:nvPr>
            <p:ph idx="1"/>
          </p:nvPr>
        </p:nvSpPr>
        <p:spPr bwMode="auto">
          <a:xfrm>
            <a:off x="516193" y="1997844"/>
            <a:ext cx="1125302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Accuracy: Measures the overall percentage of correctly classified fault and non-fault samples.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F1-score: Represents the harmonic mean of precision and recall, useful for evaluating performance on imbalanced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RMSE: Quantifies the square root of the average squared prediction error, emphasizing larger errors.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MAE: Measures the average absolute difference between predicted and actual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R² (Coefficient of Determination): Indicates how well the model’s predictions explain the variance in the actual data.</a:t>
            </a:r>
          </a:p>
        </p:txBody>
      </p:sp>
    </p:spTree>
    <p:extLst>
      <p:ext uri="{BB962C8B-B14F-4D97-AF65-F5344CB8AC3E}">
        <p14:creationId xmlns:p14="http://schemas.microsoft.com/office/powerpoint/2010/main" val="1816111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33D31-4BB5-B01A-615D-D90B4298F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DFA4D-A4C5-72F1-1B1E-2C26B8685413}"/>
              </a:ext>
            </a:extLst>
          </p:cNvPr>
          <p:cNvSpPr>
            <a:spLocks noGrp="1"/>
          </p:cNvSpPr>
          <p:nvPr>
            <p:ph type="title"/>
          </p:nvPr>
        </p:nvSpPr>
        <p:spPr>
          <a:xfrm>
            <a:off x="516193" y="1098300"/>
            <a:ext cx="10515600" cy="763306"/>
          </a:xfrm>
        </p:spPr>
        <p:txBody>
          <a:bodyPr>
            <a:normAutofit/>
          </a:bodyPr>
          <a:lstStyle/>
          <a:p>
            <a:r>
              <a:rPr lang="en-US" sz="3600" b="1" dirty="0">
                <a:latin typeface="Aharoni" panose="02010803020104030203" pitchFamily="2" charset="-79"/>
                <a:cs typeface="Aharoni" panose="02010803020104030203" pitchFamily="2" charset="-79"/>
              </a:rPr>
              <a:t>Trends in Fault Detection and Classification</a:t>
            </a:r>
            <a:endParaRPr lang="en-IN" sz="3600" b="1" dirty="0">
              <a:latin typeface="Aharoni" panose="02010803020104030203" pitchFamily="2" charset="-79"/>
              <a:cs typeface="Aharoni" panose="02010803020104030203" pitchFamily="2" charset="-79"/>
            </a:endParaRPr>
          </a:p>
        </p:txBody>
      </p:sp>
      <p:pic>
        <p:nvPicPr>
          <p:cNvPr id="4" name="Google Shape;55;p13">
            <a:extLst>
              <a:ext uri="{FF2B5EF4-FFF2-40B4-BE49-F238E27FC236}">
                <a16:creationId xmlns:a16="http://schemas.microsoft.com/office/drawing/2014/main" id="{89B5E923-42A1-AFB5-9442-B477C7E997CB}"/>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CD8DB064-F0FB-AFFC-9E98-21CA5E579B6D}"/>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0655B44A-7A0D-1CDE-1783-CDD74C5DF30B}"/>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7" name="TextBox 6">
            <a:extLst>
              <a:ext uri="{FF2B5EF4-FFF2-40B4-BE49-F238E27FC236}">
                <a16:creationId xmlns:a16="http://schemas.microsoft.com/office/drawing/2014/main" id="{BF6D9AB0-3E55-EB3F-9338-8B5A070CA17B}"/>
              </a:ext>
            </a:extLst>
          </p:cNvPr>
          <p:cNvSpPr txBox="1"/>
          <p:nvPr/>
        </p:nvSpPr>
        <p:spPr>
          <a:xfrm>
            <a:off x="6341807" y="6488668"/>
            <a:ext cx="6096000" cy="369332"/>
          </a:xfrm>
          <a:prstGeom prst="rect">
            <a:avLst/>
          </a:prstGeom>
          <a:noFill/>
        </p:spPr>
        <p:txBody>
          <a:bodyPr wrap="square">
            <a:spAutoFit/>
          </a:bodyPr>
          <a:lstStyle/>
          <a:p>
            <a:r>
              <a:rPr lang="en-US" dirty="0"/>
              <a:t>Department of Electronics &amp; Communication Engineering . 7</a:t>
            </a:r>
            <a:endParaRPr lang="en-IN" dirty="0"/>
          </a:p>
        </p:txBody>
      </p:sp>
      <p:sp>
        <p:nvSpPr>
          <p:cNvPr id="3" name="Rectangle 1">
            <a:extLst>
              <a:ext uri="{FF2B5EF4-FFF2-40B4-BE49-F238E27FC236}">
                <a16:creationId xmlns:a16="http://schemas.microsoft.com/office/drawing/2014/main" id="{0F3A982C-79FD-4549-3645-B20F340C49E3}"/>
              </a:ext>
            </a:extLst>
          </p:cNvPr>
          <p:cNvSpPr>
            <a:spLocks noGrp="1" noChangeArrowheads="1"/>
          </p:cNvSpPr>
          <p:nvPr>
            <p:ph idx="1"/>
          </p:nvPr>
        </p:nvSpPr>
        <p:spPr bwMode="auto">
          <a:xfrm>
            <a:off x="468177" y="2010159"/>
            <a:ext cx="1125302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A shift from conventional threshold-based relays to data-driven machine learning methods using voltage and current measurements.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Increasing use of deep learning models such as CNNs and LSTMs to capture nonlinear and temporal fault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Growing adoption of hybrid ML–DL frameworks that combine engineered electrical features with temporal learning for improved robustness.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Use of ensemble learning techniques to enhance accuracy under noisy and imbalanced operating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Emphasis on real-time, reliable, and scalable solutions suitable for smart grid and intelligent protection systems.</a:t>
            </a:r>
          </a:p>
        </p:txBody>
      </p:sp>
    </p:spTree>
    <p:extLst>
      <p:ext uri="{BB962C8B-B14F-4D97-AF65-F5344CB8AC3E}">
        <p14:creationId xmlns:p14="http://schemas.microsoft.com/office/powerpoint/2010/main" val="3669654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FF57-DF68-31BF-D21E-8D7A8DCC7938}"/>
              </a:ext>
            </a:extLst>
          </p:cNvPr>
          <p:cNvSpPr>
            <a:spLocks noGrp="1"/>
          </p:cNvSpPr>
          <p:nvPr>
            <p:ph type="title"/>
          </p:nvPr>
        </p:nvSpPr>
        <p:spPr>
          <a:xfrm>
            <a:off x="363637" y="1121597"/>
            <a:ext cx="10515600" cy="711197"/>
          </a:xfrm>
        </p:spPr>
        <p:txBody>
          <a:bodyPr>
            <a:normAutofit/>
          </a:bodyPr>
          <a:lstStyle/>
          <a:p>
            <a:r>
              <a:rPr lang="en-IN" sz="3600" b="1" dirty="0">
                <a:latin typeface="Aharoni" panose="02010803020104030203" pitchFamily="2" charset="-79"/>
                <a:cs typeface="Aharoni" panose="02010803020104030203" pitchFamily="2" charset="-79"/>
              </a:rPr>
              <a:t>Research Gaps Identified</a:t>
            </a:r>
          </a:p>
        </p:txBody>
      </p:sp>
      <p:pic>
        <p:nvPicPr>
          <p:cNvPr id="4" name="Google Shape;55;p13">
            <a:extLst>
              <a:ext uri="{FF2B5EF4-FFF2-40B4-BE49-F238E27FC236}">
                <a16:creationId xmlns:a16="http://schemas.microsoft.com/office/drawing/2014/main" id="{782776AD-3475-92BC-EE98-2443A6F8A7AB}"/>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1D5D0C7E-6CA7-0CB9-E423-A989B2B37F71}"/>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DBB0E890-9EFA-7B2B-300D-89693B48CBFD}"/>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8DDA5ABD-4545-B99A-D487-F12A0F73F37F}"/>
              </a:ext>
            </a:extLst>
          </p:cNvPr>
          <p:cNvSpPr txBox="1"/>
          <p:nvPr/>
        </p:nvSpPr>
        <p:spPr>
          <a:xfrm>
            <a:off x="6220460" y="6488668"/>
            <a:ext cx="6096000" cy="369332"/>
          </a:xfrm>
          <a:prstGeom prst="rect">
            <a:avLst/>
          </a:prstGeom>
          <a:noFill/>
        </p:spPr>
        <p:txBody>
          <a:bodyPr wrap="square">
            <a:spAutoFit/>
          </a:bodyPr>
          <a:lstStyle/>
          <a:p>
            <a:r>
              <a:rPr lang="en-US" dirty="0"/>
              <a:t>Department of Electronics &amp; Communication Engineering . 8</a:t>
            </a:r>
            <a:endParaRPr lang="en-IN" dirty="0"/>
          </a:p>
        </p:txBody>
      </p:sp>
      <p:sp>
        <p:nvSpPr>
          <p:cNvPr id="9" name="Rectangle 3">
            <a:extLst>
              <a:ext uri="{FF2B5EF4-FFF2-40B4-BE49-F238E27FC236}">
                <a16:creationId xmlns:a16="http://schemas.microsoft.com/office/drawing/2014/main" id="{04265592-93CA-B4F6-FB7A-938A2F1AEBCF}"/>
              </a:ext>
            </a:extLst>
          </p:cNvPr>
          <p:cNvSpPr>
            <a:spLocks noGrp="1" noChangeArrowheads="1"/>
          </p:cNvSpPr>
          <p:nvPr>
            <p:ph idx="1"/>
          </p:nvPr>
        </p:nvSpPr>
        <p:spPr bwMode="auto">
          <a:xfrm>
            <a:off x="474404" y="1892201"/>
            <a:ext cx="1125302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Most existing methods rely on a single learning paradigm (only ML or only DL), limiting their ability to capture both instantaneous electrical features and temporal fault dynamics.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Classical machine learning approaches depend on static handcrafted features and struggle under noisy and transient operating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Standalone deep learning models often suffer from poor generalization when training data is limited or class-imbalanced.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Limited use of hybrid and ensemble-based frameworks that integrate interpretability with temporal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Lack of robust evaluation using both classification and error-based metrics to assess real-world reliability.</a:t>
            </a:r>
          </a:p>
        </p:txBody>
      </p:sp>
    </p:spTree>
    <p:extLst>
      <p:ext uri="{BB962C8B-B14F-4D97-AF65-F5344CB8AC3E}">
        <p14:creationId xmlns:p14="http://schemas.microsoft.com/office/powerpoint/2010/main" val="976044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C76CC-6DE8-9F71-842B-E2678EEE7CC3}"/>
              </a:ext>
            </a:extLst>
          </p:cNvPr>
          <p:cNvSpPr>
            <a:spLocks noGrp="1"/>
          </p:cNvSpPr>
          <p:nvPr>
            <p:ph type="title"/>
          </p:nvPr>
        </p:nvSpPr>
        <p:spPr>
          <a:xfrm>
            <a:off x="352062" y="1021880"/>
            <a:ext cx="10515600" cy="771843"/>
          </a:xfrm>
        </p:spPr>
        <p:txBody>
          <a:bodyPr>
            <a:normAutofit/>
          </a:bodyPr>
          <a:lstStyle/>
          <a:p>
            <a:r>
              <a:rPr lang="en-US" sz="3600" b="1" dirty="0">
                <a:latin typeface="Aharoni" panose="02010803020104030203" pitchFamily="2" charset="-79"/>
                <a:cs typeface="Aharoni" panose="02010803020104030203" pitchFamily="2" charset="-79"/>
              </a:rPr>
              <a:t>Block Diagram</a:t>
            </a:r>
            <a:endParaRPr lang="en-IN" sz="3600" b="1" dirty="0">
              <a:latin typeface="Aharoni" panose="02010803020104030203" pitchFamily="2" charset="-79"/>
              <a:cs typeface="Aharoni" panose="02010803020104030203" pitchFamily="2" charset="-79"/>
            </a:endParaRPr>
          </a:p>
        </p:txBody>
      </p:sp>
      <p:pic>
        <p:nvPicPr>
          <p:cNvPr id="4" name="Google Shape;55;p13">
            <a:extLst>
              <a:ext uri="{FF2B5EF4-FFF2-40B4-BE49-F238E27FC236}">
                <a16:creationId xmlns:a16="http://schemas.microsoft.com/office/drawing/2014/main" id="{132CCD52-972A-310B-B3AE-72A790849C7B}"/>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7861D006-9BD1-110A-F13A-2D9644D24B30}"/>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A36C9BB9-C005-A1DC-391D-57B19F4A90E4}"/>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7" name="TextBox 6">
            <a:extLst>
              <a:ext uri="{FF2B5EF4-FFF2-40B4-BE49-F238E27FC236}">
                <a16:creationId xmlns:a16="http://schemas.microsoft.com/office/drawing/2014/main" id="{0924017F-BF8C-A2C0-5119-906571A6AB79}"/>
              </a:ext>
            </a:extLst>
          </p:cNvPr>
          <p:cNvSpPr txBox="1"/>
          <p:nvPr/>
        </p:nvSpPr>
        <p:spPr>
          <a:xfrm>
            <a:off x="6312310" y="6488668"/>
            <a:ext cx="6096000" cy="369332"/>
          </a:xfrm>
          <a:prstGeom prst="rect">
            <a:avLst/>
          </a:prstGeom>
          <a:noFill/>
        </p:spPr>
        <p:txBody>
          <a:bodyPr wrap="square">
            <a:spAutoFit/>
          </a:bodyPr>
          <a:lstStyle/>
          <a:p>
            <a:r>
              <a:rPr lang="en-US" dirty="0"/>
              <a:t>Department of Electronics &amp; Communication Engineering . 9</a:t>
            </a:r>
            <a:endParaRPr lang="en-IN" dirty="0"/>
          </a:p>
        </p:txBody>
      </p:sp>
      <p:pic>
        <p:nvPicPr>
          <p:cNvPr id="12" name="Content Placeholder 11">
            <a:extLst>
              <a:ext uri="{FF2B5EF4-FFF2-40B4-BE49-F238E27FC236}">
                <a16:creationId xmlns:a16="http://schemas.microsoft.com/office/drawing/2014/main" id="{186E8F86-706C-0BC2-4731-63E8A3865A0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4404" y="1712068"/>
            <a:ext cx="11201402" cy="4464895"/>
          </a:xfrm>
        </p:spPr>
      </p:pic>
    </p:spTree>
    <p:extLst>
      <p:ext uri="{BB962C8B-B14F-4D97-AF65-F5344CB8AC3E}">
        <p14:creationId xmlns:p14="http://schemas.microsoft.com/office/powerpoint/2010/main" val="2530551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67FDF-9085-DD2A-2857-81081AF2F8A1}"/>
              </a:ext>
            </a:extLst>
          </p:cNvPr>
          <p:cNvSpPr>
            <a:spLocks noGrp="1"/>
          </p:cNvSpPr>
          <p:nvPr>
            <p:ph type="title"/>
          </p:nvPr>
        </p:nvSpPr>
        <p:spPr>
          <a:xfrm>
            <a:off x="464572" y="1012000"/>
            <a:ext cx="10515600" cy="776286"/>
          </a:xfrm>
        </p:spPr>
        <p:txBody>
          <a:bodyPr>
            <a:normAutofit/>
          </a:bodyPr>
          <a:lstStyle/>
          <a:p>
            <a:r>
              <a:rPr lang="en-IN" sz="3600" dirty="0">
                <a:latin typeface="Aharoni" panose="02010803020104030203" pitchFamily="2" charset="-79"/>
                <a:cs typeface="Aharoni" panose="02010803020104030203" pitchFamily="2" charset="-79"/>
              </a:rPr>
              <a:t>Methodology</a:t>
            </a:r>
          </a:p>
        </p:txBody>
      </p:sp>
      <p:pic>
        <p:nvPicPr>
          <p:cNvPr id="4" name="Google Shape;55;p13">
            <a:extLst>
              <a:ext uri="{FF2B5EF4-FFF2-40B4-BE49-F238E27FC236}">
                <a16:creationId xmlns:a16="http://schemas.microsoft.com/office/drawing/2014/main" id="{4C7DD8F9-6BFD-4A28-BF0F-EA362D40E7BA}"/>
              </a:ext>
            </a:extLst>
          </p:cNvPr>
          <p:cNvPicPr preferRelativeResize="0"/>
          <p:nvPr/>
        </p:nvPicPr>
        <p:blipFill rotWithShape="1">
          <a:blip r:embed="rId2">
            <a:alphaModFix/>
          </a:blip>
          <a:srcRect t="15763" r="38199" b="64453"/>
          <a:stretch/>
        </p:blipFill>
        <p:spPr>
          <a:xfrm>
            <a:off x="7615084" y="104570"/>
            <a:ext cx="3559278" cy="925718"/>
          </a:xfrm>
          <a:prstGeom prst="rect">
            <a:avLst/>
          </a:prstGeom>
          <a:noFill/>
          <a:ln>
            <a:noFill/>
          </a:ln>
        </p:spPr>
      </p:pic>
      <p:cxnSp>
        <p:nvCxnSpPr>
          <p:cNvPr id="5" name="Google Shape;56;p13">
            <a:extLst>
              <a:ext uri="{FF2B5EF4-FFF2-40B4-BE49-F238E27FC236}">
                <a16:creationId xmlns:a16="http://schemas.microsoft.com/office/drawing/2014/main" id="{DFD52ECE-8EF5-D364-A5CD-5FBD718C09E9}"/>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53A3DCC5-F8D2-E3BD-2DD0-331C3CBA723B}"/>
              </a:ext>
            </a:extLst>
          </p:cNvPr>
          <p:cNvCxnSpPr>
            <a:cxnSpLocks/>
          </p:cNvCxnSpPr>
          <p:nvPr/>
        </p:nvCxnSpPr>
        <p:spPr>
          <a:xfrm>
            <a:off x="516193" y="6384098"/>
            <a:ext cx="11159613" cy="0"/>
          </a:xfrm>
          <a:prstGeom prst="straightConnector1">
            <a:avLst/>
          </a:prstGeom>
          <a:noFill/>
          <a:ln w="31750" cap="flat" cmpd="sng">
            <a:solidFill>
              <a:srgbClr val="E4948A"/>
            </a:solidFill>
            <a:prstDash val="solid"/>
            <a:round/>
            <a:headEnd type="none" w="sm" len="sm"/>
            <a:tailEnd type="none" w="sm" len="sm"/>
          </a:ln>
        </p:spPr>
      </p:cxnSp>
      <p:sp>
        <p:nvSpPr>
          <p:cNvPr id="12" name="TextBox 11">
            <a:extLst>
              <a:ext uri="{FF2B5EF4-FFF2-40B4-BE49-F238E27FC236}">
                <a16:creationId xmlns:a16="http://schemas.microsoft.com/office/drawing/2014/main" id="{8CF1009B-53B9-BC15-A7DC-D81C65F2403B}"/>
              </a:ext>
            </a:extLst>
          </p:cNvPr>
          <p:cNvSpPr txBox="1"/>
          <p:nvPr/>
        </p:nvSpPr>
        <p:spPr>
          <a:xfrm>
            <a:off x="6312310" y="6384098"/>
            <a:ext cx="6164826" cy="369332"/>
          </a:xfrm>
          <a:prstGeom prst="rect">
            <a:avLst/>
          </a:prstGeom>
          <a:noFill/>
        </p:spPr>
        <p:txBody>
          <a:bodyPr wrap="square">
            <a:spAutoFit/>
          </a:bodyPr>
          <a:lstStyle/>
          <a:p>
            <a:r>
              <a:rPr lang="en-US" dirty="0"/>
              <a:t>Department of Electronics &amp; Communication Engineering . 10</a:t>
            </a:r>
            <a:endParaRPr lang="en-IN" dirty="0"/>
          </a:p>
        </p:txBody>
      </p:sp>
      <p:sp>
        <p:nvSpPr>
          <p:cNvPr id="9" name="Rectangle 4">
            <a:extLst>
              <a:ext uri="{FF2B5EF4-FFF2-40B4-BE49-F238E27FC236}">
                <a16:creationId xmlns:a16="http://schemas.microsoft.com/office/drawing/2014/main" id="{CFAE73BB-843C-86A4-43A7-B70AE57462F8}"/>
              </a:ext>
            </a:extLst>
          </p:cNvPr>
          <p:cNvSpPr>
            <a:spLocks noGrp="1" noChangeArrowheads="1"/>
          </p:cNvSpPr>
          <p:nvPr>
            <p:ph idx="1"/>
          </p:nvPr>
        </p:nvSpPr>
        <p:spPr bwMode="auto">
          <a:xfrm>
            <a:off x="795312" y="1838475"/>
            <a:ext cx="1029447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Input Signal Acquisition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Synchronized three-phase voltage and current signals (</a:t>
            </a:r>
            <a:r>
              <a:rPr kumimoji="0" lang="en-US" altLang="en-US" sz="1800" b="0" i="0" u="none" strike="noStrike" cap="none" normalizeH="0" baseline="0" dirty="0" err="1">
                <a:ln>
                  <a:noFill/>
                </a:ln>
                <a:solidFill>
                  <a:schemeClr val="tx1"/>
                </a:solidFill>
                <a:effectLst/>
              </a:rPr>
              <a:t>Va,Vb,Vc,Ia,Ib,Ic</a:t>
            </a:r>
            <a:r>
              <a:rPr kumimoji="0" lang="en-US" altLang="en-US" sz="1800" b="0" i="0" u="none" strike="noStrike" cap="none" normalizeH="0" baseline="0" dirty="0">
                <a:ln>
                  <a:noFill/>
                </a:ln>
                <a:solidFill>
                  <a:schemeClr val="tx1"/>
                </a:solidFill>
                <a:effectLst/>
              </a:rPr>
              <a:t>)(</a:t>
            </a:r>
            <a:r>
              <a:rPr kumimoji="0" lang="en-US" altLang="en-US" sz="1800" b="0" i="0" u="none" strike="noStrike" cap="none" normalizeH="0" baseline="0" dirty="0" err="1">
                <a:ln>
                  <a:noFill/>
                </a:ln>
                <a:solidFill>
                  <a:schemeClr val="tx1"/>
                </a:solidFill>
                <a:effectLst/>
              </a:rPr>
              <a:t>V_a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V_b</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V_c</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I_a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I_b</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I_c</a:t>
            </a:r>
            <a:r>
              <a:rPr kumimoji="0" lang="en-US" altLang="en-US" sz="1800" b="0" i="0" u="none" strike="noStrike" cap="none" normalizeH="0" baseline="0" dirty="0">
                <a:ln>
                  <a:noFill/>
                </a:ln>
                <a:solidFill>
                  <a:schemeClr val="tx1"/>
                </a:solidFill>
                <a:effectLst/>
              </a:rPr>
              <a:t>)(Va​,</a:t>
            </a:r>
            <a:r>
              <a:rPr kumimoji="0" lang="en-US" altLang="en-US" sz="1800" b="0" i="0" u="none" strike="noStrike" cap="none" normalizeH="0" baseline="0" dirty="0" err="1">
                <a:ln>
                  <a:noFill/>
                </a:ln>
                <a:solidFill>
                  <a:schemeClr val="tx1"/>
                </a:solidFill>
                <a:effectLst/>
              </a:rPr>
              <a:t>Vb</a:t>
            </a:r>
            <a:r>
              <a:rPr kumimoji="0" lang="en-US" altLang="en-US" sz="1800" b="0" i="0" u="none" strike="noStrike" cap="none" normalizeH="0" baseline="0" dirty="0">
                <a:ln>
                  <a:noFill/>
                </a:ln>
                <a:solidFill>
                  <a:schemeClr val="tx1"/>
                </a:solidFill>
                <a:effectLst/>
              </a:rPr>
              <a:t>​,</a:t>
            </a:r>
            <a:r>
              <a:rPr kumimoji="0" lang="en-US" altLang="en-US" sz="1800" b="0" i="0" u="none" strike="noStrike" cap="none" normalizeH="0" baseline="0" dirty="0" err="1">
                <a:ln>
                  <a:noFill/>
                </a:ln>
                <a:solidFill>
                  <a:schemeClr val="tx1"/>
                </a:solidFill>
                <a:effectLst/>
              </a:rPr>
              <a:t>Vc</a:t>
            </a:r>
            <a:r>
              <a:rPr kumimoji="0" lang="en-US" altLang="en-US" sz="1800" b="0" i="0" u="none" strike="noStrike" cap="none" normalizeH="0" baseline="0" dirty="0">
                <a:ln>
                  <a:noFill/>
                </a:ln>
                <a:solidFill>
                  <a:schemeClr val="tx1"/>
                </a:solidFill>
                <a:effectLst/>
              </a:rPr>
              <a:t>​,</a:t>
            </a:r>
            <a:r>
              <a:rPr kumimoji="0" lang="en-US" altLang="en-US" sz="1800" b="0" i="0" u="none" strike="noStrike" cap="none" normalizeH="0" baseline="0" dirty="0" err="1">
                <a:ln>
                  <a:noFill/>
                </a:ln>
                <a:solidFill>
                  <a:schemeClr val="tx1"/>
                </a:solidFill>
                <a:effectLst/>
              </a:rPr>
              <a:t>Ia</a:t>
            </a:r>
            <a:r>
              <a:rPr kumimoji="0" lang="en-US" altLang="en-US" sz="1800" b="0" i="0" u="none" strike="noStrike" cap="none" normalizeH="0" baseline="0" dirty="0">
                <a:ln>
                  <a:noFill/>
                </a:ln>
                <a:solidFill>
                  <a:schemeClr val="tx1"/>
                </a:solidFill>
                <a:effectLst/>
              </a:rPr>
              <a:t>​,</a:t>
            </a:r>
            <a:r>
              <a:rPr kumimoji="0" lang="en-US" altLang="en-US" sz="1800" b="0" i="0" u="none" strike="noStrike" cap="none" normalizeH="0" baseline="0" dirty="0" err="1">
                <a:ln>
                  <a:noFill/>
                </a:ln>
                <a:solidFill>
                  <a:schemeClr val="tx1"/>
                </a:solidFill>
                <a:effectLst/>
              </a:rPr>
              <a:t>Ib</a:t>
            </a:r>
            <a:r>
              <a:rPr kumimoji="0" lang="en-US" altLang="en-US" sz="1800" b="0" i="0" u="none" strike="noStrike" cap="none" normalizeH="0" baseline="0" dirty="0">
                <a:ln>
                  <a:noFill/>
                </a:ln>
                <a:solidFill>
                  <a:schemeClr val="tx1"/>
                </a:solidFill>
                <a:effectLst/>
              </a:rPr>
              <a:t>​,</a:t>
            </a:r>
            <a:r>
              <a:rPr kumimoji="0" lang="en-US" altLang="en-US" sz="1800" b="0" i="0" u="none" strike="noStrike" cap="none" normalizeH="0" baseline="0" dirty="0" err="1">
                <a:ln>
                  <a:noFill/>
                </a:ln>
                <a:solidFill>
                  <a:schemeClr val="tx1"/>
                </a:solidFill>
                <a:effectLst/>
              </a:rPr>
              <a:t>Ic</a:t>
            </a:r>
            <a:r>
              <a:rPr kumimoji="0" lang="en-US" altLang="en-US" sz="1800" b="0" i="0" u="none" strike="noStrike" cap="none" normalizeH="0" baseline="0" dirty="0">
                <a:ln>
                  <a:noFill/>
                </a:ln>
                <a:solidFill>
                  <a:schemeClr val="tx1"/>
                </a:solidFill>
                <a:effectLst/>
              </a:rPr>
              <a:t>​) are collected at the relay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These signals reflect voltage depression, current surge, and phase imbalance during fault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Parallel Processing Framework</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proposed </a:t>
            </a:r>
            <a:r>
              <a:rPr kumimoji="0" lang="en-US" altLang="en-US" sz="1800" b="0" i="0" u="none" strike="noStrike" cap="none" normalizeH="0" baseline="0" dirty="0" err="1">
                <a:ln>
                  <a:noFill/>
                </a:ln>
                <a:solidFill>
                  <a:schemeClr val="tx1"/>
                </a:solidFill>
                <a:effectLst/>
              </a:rPr>
              <a:t>TransFAD</a:t>
            </a:r>
            <a:r>
              <a:rPr kumimoji="0" lang="en-US" altLang="en-US" sz="1800" b="0" i="0" u="none" strike="noStrike" cap="none" normalizeH="0" baseline="0" dirty="0">
                <a:ln>
                  <a:noFill/>
                </a:ln>
                <a:solidFill>
                  <a:schemeClr val="tx1"/>
                </a:solidFill>
                <a:effectLst/>
              </a:rPr>
              <a:t> system processes the input signals through two parallel branches: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Engineered-Feature Machine Learning (EF–ML) branch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CNN–LSTM Deep Learning branch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Engineered Feature Extraction (EF–ML Branch)</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Line-to-line voltage differences are computed to capture phase asymmetry.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Voltage and current magnitudes are calculated to represent fault severity.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Phase imbalance indices are obtained using standard deviation across phases.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All extracted features are concatenated to form a discriminative feature vector.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3249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6F345-6FE1-B074-A013-D392923D27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28CA7-654A-C891-AF8B-70BF03B8E385}"/>
              </a:ext>
            </a:extLst>
          </p:cNvPr>
          <p:cNvSpPr>
            <a:spLocks noGrp="1"/>
          </p:cNvSpPr>
          <p:nvPr>
            <p:ph type="title"/>
          </p:nvPr>
        </p:nvSpPr>
        <p:spPr>
          <a:xfrm>
            <a:off x="464572" y="1012000"/>
            <a:ext cx="10515600" cy="776286"/>
          </a:xfrm>
        </p:spPr>
        <p:txBody>
          <a:bodyPr>
            <a:normAutofit/>
          </a:bodyPr>
          <a:lstStyle/>
          <a:p>
            <a:r>
              <a:rPr lang="en-IN" sz="3600" dirty="0">
                <a:latin typeface="Aharoni" panose="02010803020104030203" pitchFamily="2" charset="-79"/>
                <a:cs typeface="Aharoni" panose="02010803020104030203" pitchFamily="2" charset="-79"/>
              </a:rPr>
              <a:t>Methodology</a:t>
            </a:r>
          </a:p>
        </p:txBody>
      </p:sp>
      <p:pic>
        <p:nvPicPr>
          <p:cNvPr id="4" name="Google Shape;55;p13">
            <a:extLst>
              <a:ext uri="{FF2B5EF4-FFF2-40B4-BE49-F238E27FC236}">
                <a16:creationId xmlns:a16="http://schemas.microsoft.com/office/drawing/2014/main" id="{598AE440-FF77-22F9-739B-450471828544}"/>
              </a:ext>
            </a:extLst>
          </p:cNvPr>
          <p:cNvPicPr preferRelativeResize="0"/>
          <p:nvPr/>
        </p:nvPicPr>
        <p:blipFill rotWithShape="1">
          <a:blip r:embed="rId2">
            <a:alphaModFix/>
          </a:blip>
          <a:srcRect t="15763" r="38199" b="64453"/>
          <a:stretch/>
        </p:blipFill>
        <p:spPr>
          <a:xfrm>
            <a:off x="7615084" y="104570"/>
            <a:ext cx="3559278" cy="925718"/>
          </a:xfrm>
          <a:prstGeom prst="rect">
            <a:avLst/>
          </a:prstGeom>
          <a:noFill/>
          <a:ln>
            <a:noFill/>
          </a:ln>
        </p:spPr>
      </p:pic>
      <p:cxnSp>
        <p:nvCxnSpPr>
          <p:cNvPr id="5" name="Google Shape;56;p13">
            <a:extLst>
              <a:ext uri="{FF2B5EF4-FFF2-40B4-BE49-F238E27FC236}">
                <a16:creationId xmlns:a16="http://schemas.microsoft.com/office/drawing/2014/main" id="{7C009F98-3C22-1697-4C31-756B342822BE}"/>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A1225FF5-4B2C-B6B6-55EA-2EA8AF0527CC}"/>
              </a:ext>
            </a:extLst>
          </p:cNvPr>
          <p:cNvCxnSpPr>
            <a:cxnSpLocks/>
          </p:cNvCxnSpPr>
          <p:nvPr/>
        </p:nvCxnSpPr>
        <p:spPr>
          <a:xfrm>
            <a:off x="516193" y="6384098"/>
            <a:ext cx="11159613" cy="0"/>
          </a:xfrm>
          <a:prstGeom prst="straightConnector1">
            <a:avLst/>
          </a:prstGeom>
          <a:noFill/>
          <a:ln w="31750" cap="flat" cmpd="sng">
            <a:solidFill>
              <a:srgbClr val="E4948A"/>
            </a:solidFill>
            <a:prstDash val="solid"/>
            <a:round/>
            <a:headEnd type="none" w="sm" len="sm"/>
            <a:tailEnd type="none" w="sm" len="sm"/>
          </a:ln>
        </p:spPr>
      </p:cxnSp>
      <p:sp>
        <p:nvSpPr>
          <p:cNvPr id="12" name="TextBox 11">
            <a:extLst>
              <a:ext uri="{FF2B5EF4-FFF2-40B4-BE49-F238E27FC236}">
                <a16:creationId xmlns:a16="http://schemas.microsoft.com/office/drawing/2014/main" id="{6DB6A711-F4B1-9AFD-3F92-CB05483682F2}"/>
              </a:ext>
            </a:extLst>
          </p:cNvPr>
          <p:cNvSpPr txBox="1"/>
          <p:nvPr/>
        </p:nvSpPr>
        <p:spPr>
          <a:xfrm>
            <a:off x="6312310" y="6384098"/>
            <a:ext cx="6164826" cy="369332"/>
          </a:xfrm>
          <a:prstGeom prst="rect">
            <a:avLst/>
          </a:prstGeom>
          <a:noFill/>
        </p:spPr>
        <p:txBody>
          <a:bodyPr wrap="square">
            <a:spAutoFit/>
          </a:bodyPr>
          <a:lstStyle/>
          <a:p>
            <a:r>
              <a:rPr lang="en-US" dirty="0"/>
              <a:t>Department of Electronics &amp; Communication Engineering . 10</a:t>
            </a:r>
            <a:endParaRPr lang="en-IN" dirty="0"/>
          </a:p>
        </p:txBody>
      </p:sp>
      <p:sp>
        <p:nvSpPr>
          <p:cNvPr id="10" name="Rectangle 3">
            <a:extLst>
              <a:ext uri="{FF2B5EF4-FFF2-40B4-BE49-F238E27FC236}">
                <a16:creationId xmlns:a16="http://schemas.microsoft.com/office/drawing/2014/main" id="{271FFE93-C68D-3016-0D82-7E55CE1803FB}"/>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Feature Standardization and Classical Classification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Extracted features are standardized using mean and standard deviation.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Logistic Regression, Support Vector Machine (RBF kernel), and Decision Tree classifiers are trained.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classifier produces posterior fault class probabilities.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Sequence Construction for Deep Learning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Fixed-length sequences of 50 time samples are constructed from raw voltage and current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Synthetic noise is added during training to improve generalization and robustness.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CNN-Based Feature Extraction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One-dimensional convolutional layers extract local temporal patterns from the signal sequences.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Stacked convolution layers learn hierarchical fault representations.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BiLSTM Temporal Modeling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Bidirectional LSTM layers capture forward and backward temporal dependencies in fault evolution.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Mean pooling is applied to obtain a fixed-length feature representation.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Deep Learning Output Generation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softmax layer generates fault class probability outputs from the CNN–LSTM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9562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DF1B2-CDEC-D9BD-A9DB-3CC1D946E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263B6-5AAB-9D5F-89D0-AB5AD9EB04D4}"/>
              </a:ext>
            </a:extLst>
          </p:cNvPr>
          <p:cNvSpPr>
            <a:spLocks noGrp="1"/>
          </p:cNvSpPr>
          <p:nvPr>
            <p:ph type="title"/>
          </p:nvPr>
        </p:nvSpPr>
        <p:spPr>
          <a:xfrm>
            <a:off x="464572" y="1012000"/>
            <a:ext cx="10515600" cy="776286"/>
          </a:xfrm>
        </p:spPr>
        <p:txBody>
          <a:bodyPr>
            <a:normAutofit/>
          </a:bodyPr>
          <a:lstStyle/>
          <a:p>
            <a:r>
              <a:rPr lang="en-IN" sz="3600" dirty="0">
                <a:latin typeface="Aharoni" panose="02010803020104030203" pitchFamily="2" charset="-79"/>
                <a:cs typeface="Aharoni" panose="02010803020104030203" pitchFamily="2" charset="-79"/>
              </a:rPr>
              <a:t>Methodology</a:t>
            </a:r>
          </a:p>
        </p:txBody>
      </p:sp>
      <p:pic>
        <p:nvPicPr>
          <p:cNvPr id="4" name="Google Shape;55;p13">
            <a:extLst>
              <a:ext uri="{FF2B5EF4-FFF2-40B4-BE49-F238E27FC236}">
                <a16:creationId xmlns:a16="http://schemas.microsoft.com/office/drawing/2014/main" id="{1C28D55B-D7B0-4ECB-00F3-45D30B01A0F2}"/>
              </a:ext>
            </a:extLst>
          </p:cNvPr>
          <p:cNvPicPr preferRelativeResize="0"/>
          <p:nvPr/>
        </p:nvPicPr>
        <p:blipFill rotWithShape="1">
          <a:blip r:embed="rId2">
            <a:alphaModFix/>
          </a:blip>
          <a:srcRect t="15763" r="38199" b="64453"/>
          <a:stretch/>
        </p:blipFill>
        <p:spPr>
          <a:xfrm>
            <a:off x="7615084" y="104570"/>
            <a:ext cx="3559278" cy="925718"/>
          </a:xfrm>
          <a:prstGeom prst="rect">
            <a:avLst/>
          </a:prstGeom>
          <a:noFill/>
          <a:ln>
            <a:noFill/>
          </a:ln>
        </p:spPr>
      </p:pic>
      <p:cxnSp>
        <p:nvCxnSpPr>
          <p:cNvPr id="5" name="Google Shape;56;p13">
            <a:extLst>
              <a:ext uri="{FF2B5EF4-FFF2-40B4-BE49-F238E27FC236}">
                <a16:creationId xmlns:a16="http://schemas.microsoft.com/office/drawing/2014/main" id="{8FF19D91-2480-0724-9C1B-22C00B56D2FF}"/>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4D0B1B47-D42E-AFC8-815D-1F86D72117E5}"/>
              </a:ext>
            </a:extLst>
          </p:cNvPr>
          <p:cNvCxnSpPr>
            <a:cxnSpLocks/>
          </p:cNvCxnSpPr>
          <p:nvPr/>
        </p:nvCxnSpPr>
        <p:spPr>
          <a:xfrm>
            <a:off x="516193" y="6384098"/>
            <a:ext cx="11159613" cy="0"/>
          </a:xfrm>
          <a:prstGeom prst="straightConnector1">
            <a:avLst/>
          </a:prstGeom>
          <a:noFill/>
          <a:ln w="31750" cap="flat" cmpd="sng">
            <a:solidFill>
              <a:srgbClr val="E4948A"/>
            </a:solidFill>
            <a:prstDash val="solid"/>
            <a:round/>
            <a:headEnd type="none" w="sm" len="sm"/>
            <a:tailEnd type="none" w="sm" len="sm"/>
          </a:ln>
        </p:spPr>
      </p:cxnSp>
      <p:sp>
        <p:nvSpPr>
          <p:cNvPr id="12" name="TextBox 11">
            <a:extLst>
              <a:ext uri="{FF2B5EF4-FFF2-40B4-BE49-F238E27FC236}">
                <a16:creationId xmlns:a16="http://schemas.microsoft.com/office/drawing/2014/main" id="{D56DCEB4-D735-8E35-FE86-EEE4065B8017}"/>
              </a:ext>
            </a:extLst>
          </p:cNvPr>
          <p:cNvSpPr txBox="1"/>
          <p:nvPr/>
        </p:nvSpPr>
        <p:spPr>
          <a:xfrm>
            <a:off x="6312310" y="6384098"/>
            <a:ext cx="6164826" cy="369332"/>
          </a:xfrm>
          <a:prstGeom prst="rect">
            <a:avLst/>
          </a:prstGeom>
          <a:noFill/>
        </p:spPr>
        <p:txBody>
          <a:bodyPr wrap="square">
            <a:spAutoFit/>
          </a:bodyPr>
          <a:lstStyle/>
          <a:p>
            <a:r>
              <a:rPr lang="en-US" dirty="0"/>
              <a:t>Department of Electronics &amp; Communication Engineering . 10</a:t>
            </a:r>
            <a:endParaRPr lang="en-IN" dirty="0"/>
          </a:p>
        </p:txBody>
      </p:sp>
      <p:sp>
        <p:nvSpPr>
          <p:cNvPr id="3" name="Rectangle 1">
            <a:extLst>
              <a:ext uri="{FF2B5EF4-FFF2-40B4-BE49-F238E27FC236}">
                <a16:creationId xmlns:a16="http://schemas.microsoft.com/office/drawing/2014/main" id="{C3B93C9B-8802-55C6-3E8B-77767CE95DD9}"/>
              </a:ext>
            </a:extLst>
          </p:cNvPr>
          <p:cNvSpPr>
            <a:spLocks noGrp="1" noChangeArrowheads="1"/>
          </p:cNvSpPr>
          <p:nvPr>
            <p:ph idx="1"/>
          </p:nvPr>
        </p:nvSpPr>
        <p:spPr bwMode="auto">
          <a:xfrm>
            <a:off x="838200" y="2708633"/>
            <a:ext cx="1267032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Weighted Ensemble Decision Fusion</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Probability outputs from the EF–ML and CNN–LSTM branches are combined using weighted fusion.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Higher weight is assigned to the deep learning branch to emphasize temporal modeling.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Final Fault Classification</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The class with the maximum fused probability is selected as the final fault decision.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The output indicates fault presence and fault classification.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1153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55;p13">
            <a:extLst>
              <a:ext uri="{FF2B5EF4-FFF2-40B4-BE49-F238E27FC236}">
                <a16:creationId xmlns:a16="http://schemas.microsoft.com/office/drawing/2014/main" id="{76367065-866C-D77E-8082-26FB05A092C2}"/>
              </a:ext>
            </a:extLst>
          </p:cNvPr>
          <p:cNvPicPr preferRelativeResize="0"/>
          <p:nvPr/>
        </p:nvPicPr>
        <p:blipFill rotWithShape="1">
          <a:blip r:embed="rId2">
            <a:alphaModFix/>
          </a:blip>
          <a:srcRect t="15763" r="38199" b="64453"/>
          <a:stretch/>
        </p:blipFill>
        <p:spPr>
          <a:xfrm>
            <a:off x="7615084" y="104570"/>
            <a:ext cx="3559278" cy="925718"/>
          </a:xfrm>
          <a:prstGeom prst="rect">
            <a:avLst/>
          </a:prstGeom>
          <a:noFill/>
          <a:ln>
            <a:noFill/>
          </a:ln>
        </p:spPr>
      </p:pic>
      <p:cxnSp>
        <p:nvCxnSpPr>
          <p:cNvPr id="3" name="Google Shape;56;p13">
            <a:extLst>
              <a:ext uri="{FF2B5EF4-FFF2-40B4-BE49-F238E27FC236}">
                <a16:creationId xmlns:a16="http://schemas.microsoft.com/office/drawing/2014/main" id="{FC194364-CE7D-BC41-8FDB-EF3D5FBF0999}"/>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4" name="Google Shape;61;p13">
            <a:extLst>
              <a:ext uri="{FF2B5EF4-FFF2-40B4-BE49-F238E27FC236}">
                <a16:creationId xmlns:a16="http://schemas.microsoft.com/office/drawing/2014/main" id="{AB09E16A-0F7D-2BF6-F5D6-685DB0B655DD}"/>
              </a:ext>
            </a:extLst>
          </p:cNvPr>
          <p:cNvCxnSpPr>
            <a:cxnSpLocks/>
          </p:cNvCxnSpPr>
          <p:nvPr/>
        </p:nvCxnSpPr>
        <p:spPr>
          <a:xfrm>
            <a:off x="516193" y="638409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2445A0C2-E10E-D8F7-0CC1-09390A646E10}"/>
              </a:ext>
            </a:extLst>
          </p:cNvPr>
          <p:cNvSpPr txBox="1"/>
          <p:nvPr/>
        </p:nvSpPr>
        <p:spPr>
          <a:xfrm>
            <a:off x="6312310" y="6384098"/>
            <a:ext cx="6164826" cy="369332"/>
          </a:xfrm>
          <a:prstGeom prst="rect">
            <a:avLst/>
          </a:prstGeom>
          <a:noFill/>
        </p:spPr>
        <p:txBody>
          <a:bodyPr wrap="square">
            <a:spAutoFit/>
          </a:bodyPr>
          <a:lstStyle/>
          <a:p>
            <a:r>
              <a:rPr lang="en-US" dirty="0"/>
              <a:t>Department of Electronics &amp; Communication Engineering . 11</a:t>
            </a:r>
            <a:endParaRPr lang="en-IN" dirty="0"/>
          </a:p>
        </p:txBody>
      </p:sp>
      <p:sp>
        <p:nvSpPr>
          <p:cNvPr id="5" name="TextBox 4">
            <a:extLst>
              <a:ext uri="{FF2B5EF4-FFF2-40B4-BE49-F238E27FC236}">
                <a16:creationId xmlns:a16="http://schemas.microsoft.com/office/drawing/2014/main" id="{56A5B8A0-8B3E-BAE7-9E43-68CC8D253C1D}"/>
              </a:ext>
            </a:extLst>
          </p:cNvPr>
          <p:cNvSpPr txBox="1"/>
          <p:nvPr/>
        </p:nvSpPr>
        <p:spPr>
          <a:xfrm>
            <a:off x="277232" y="1094091"/>
            <a:ext cx="6035078" cy="646331"/>
          </a:xfrm>
          <a:prstGeom prst="rect">
            <a:avLst/>
          </a:prstGeom>
          <a:noFill/>
        </p:spPr>
        <p:txBody>
          <a:bodyPr wrap="square" rtlCol="0">
            <a:spAutoFit/>
          </a:bodyPr>
          <a:lstStyle/>
          <a:p>
            <a:r>
              <a:rPr lang="en-IN" sz="3600" b="1" dirty="0">
                <a:latin typeface="Aharoni" panose="02010803020104030203" pitchFamily="2" charset="-79"/>
                <a:cs typeface="Aharoni" panose="02010803020104030203" pitchFamily="2" charset="-79"/>
              </a:rPr>
              <a:t>Contribution</a:t>
            </a:r>
          </a:p>
        </p:txBody>
      </p:sp>
      <p:sp>
        <p:nvSpPr>
          <p:cNvPr id="6" name="TextBox 5">
            <a:extLst>
              <a:ext uri="{FF2B5EF4-FFF2-40B4-BE49-F238E27FC236}">
                <a16:creationId xmlns:a16="http://schemas.microsoft.com/office/drawing/2014/main" id="{481BBC10-4334-5110-CB51-80D8C9C6836E}"/>
              </a:ext>
            </a:extLst>
          </p:cNvPr>
          <p:cNvSpPr txBox="1"/>
          <p:nvPr/>
        </p:nvSpPr>
        <p:spPr>
          <a:xfrm>
            <a:off x="474404" y="1967696"/>
            <a:ext cx="11159613" cy="4893647"/>
          </a:xfrm>
          <a:prstGeom prst="rect">
            <a:avLst/>
          </a:prstGeom>
          <a:noFill/>
        </p:spPr>
        <p:txBody>
          <a:bodyPr wrap="square" rtlCol="0">
            <a:spAutoFit/>
          </a:bodyPr>
          <a:lstStyle/>
          <a:p>
            <a:pPr>
              <a:buFont typeface="+mj-lt"/>
              <a:buAutoNum type="arabicPeriod"/>
            </a:pPr>
            <a:r>
              <a:rPr lang="en-US" sz="2400" dirty="0"/>
              <a:t>A hybrid transmission line fault detection and classification framework, termed </a:t>
            </a:r>
            <a:r>
              <a:rPr lang="en-US" sz="2400" b="1" dirty="0" err="1"/>
              <a:t>TransFAD</a:t>
            </a:r>
            <a:r>
              <a:rPr lang="en-US" sz="2400" dirty="0"/>
              <a:t>, is proposed by integrating classical machine learning and deep learning techniques.</a:t>
            </a:r>
          </a:p>
          <a:p>
            <a:pPr>
              <a:buFont typeface="+mj-lt"/>
              <a:buAutoNum type="arabicPeriod"/>
            </a:pPr>
            <a:r>
              <a:rPr lang="en-US" sz="2400" dirty="0"/>
              <a:t>Physically interpretable engineered electrical features are designed and utilized to enhance the discriminative capability of conventional machine learning models.</a:t>
            </a:r>
          </a:p>
          <a:p>
            <a:pPr>
              <a:buFont typeface="+mj-lt"/>
              <a:buAutoNum type="arabicPeriod"/>
            </a:pPr>
            <a:r>
              <a:rPr lang="en-US" sz="2400" dirty="0"/>
              <a:t>A CNN–LSTM based deep learning architecture is developed to learn spatial and temporal fault characteristics directly from voltage and current signal sequences.</a:t>
            </a:r>
          </a:p>
          <a:p>
            <a:pPr>
              <a:buFont typeface="+mj-lt"/>
              <a:buAutoNum type="arabicPeriod"/>
            </a:pPr>
            <a:r>
              <a:rPr lang="en-US" sz="2400" dirty="0"/>
              <a:t>A weighted ensemble fusion strategy is introduced to combine machine learning and deep learning predictions, improving robustness under noisy and imbalanced conditions.</a:t>
            </a:r>
          </a:p>
          <a:p>
            <a:pPr>
              <a:buFont typeface="+mj-lt"/>
              <a:buAutoNum type="arabicPeriod"/>
            </a:pPr>
            <a:r>
              <a:rPr lang="en-US" sz="2400" dirty="0"/>
              <a:t>Extensive experimental evaluation is conducted using a publicly available electrical fault detection dataset, demonstrating that the proposed framework outperforms standalone models across multiple performance metrics.</a:t>
            </a:r>
          </a:p>
          <a:p>
            <a:endParaRPr lang="en-IN" sz="2400" dirty="0"/>
          </a:p>
        </p:txBody>
      </p:sp>
    </p:spTree>
    <p:extLst>
      <p:ext uri="{BB962C8B-B14F-4D97-AF65-F5344CB8AC3E}">
        <p14:creationId xmlns:p14="http://schemas.microsoft.com/office/powerpoint/2010/main" val="2302196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F0314-2140-65BE-8495-D7602F716ADD}"/>
              </a:ext>
            </a:extLst>
          </p:cNvPr>
          <p:cNvSpPr>
            <a:spLocks noGrp="1"/>
          </p:cNvSpPr>
          <p:nvPr>
            <p:ph type="title"/>
          </p:nvPr>
        </p:nvSpPr>
        <p:spPr>
          <a:xfrm>
            <a:off x="399268" y="365155"/>
            <a:ext cx="10515600" cy="628499"/>
          </a:xfrm>
        </p:spPr>
        <p:txBody>
          <a:bodyPr>
            <a:normAutofit/>
          </a:bodyPr>
          <a:lstStyle/>
          <a:p>
            <a:r>
              <a:rPr lang="en-US" sz="3600" b="1" dirty="0">
                <a:latin typeface="Aharoni" panose="02010803020104030203" pitchFamily="2" charset="-79"/>
                <a:cs typeface="Aharoni" panose="02010803020104030203" pitchFamily="2" charset="-79"/>
              </a:rPr>
              <a:t>RESULTS:</a:t>
            </a:r>
            <a:endParaRPr lang="en-IN" sz="3600" b="1" dirty="0">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C232CD93-1959-20C6-E434-F0D669C5C2EE}"/>
              </a:ext>
            </a:extLst>
          </p:cNvPr>
          <p:cNvSpPr>
            <a:spLocks noGrp="1"/>
          </p:cNvSpPr>
          <p:nvPr>
            <p:ph idx="1"/>
          </p:nvPr>
        </p:nvSpPr>
        <p:spPr>
          <a:xfrm>
            <a:off x="828370" y="1176291"/>
            <a:ext cx="10515600" cy="4977227"/>
          </a:xfrm>
        </p:spPr>
        <p:txBody>
          <a:bodyPr/>
          <a:lstStyle/>
          <a:p>
            <a:pPr marL="0" indent="0">
              <a:buNone/>
            </a:pPr>
            <a:r>
              <a:rPr lang="en-US" dirty="0"/>
              <a:t>                        </a:t>
            </a:r>
            <a:endParaRPr lang="en-IN" dirty="0"/>
          </a:p>
        </p:txBody>
      </p:sp>
      <p:pic>
        <p:nvPicPr>
          <p:cNvPr id="4" name="Google Shape;55;p13">
            <a:extLst>
              <a:ext uri="{FF2B5EF4-FFF2-40B4-BE49-F238E27FC236}">
                <a16:creationId xmlns:a16="http://schemas.microsoft.com/office/drawing/2014/main" id="{0D45D26A-D480-ACE8-C742-2A876F1DF42C}"/>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2A67B75D-BCBF-6E73-664D-FB61521496D0}"/>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6543FE26-F5DD-5E69-C37D-B15E72AEDBEB}"/>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14" name="TextBox 13">
            <a:extLst>
              <a:ext uri="{FF2B5EF4-FFF2-40B4-BE49-F238E27FC236}">
                <a16:creationId xmlns:a16="http://schemas.microsoft.com/office/drawing/2014/main" id="{A80F6529-7066-2C95-FA95-30CC62EE4AF5}"/>
              </a:ext>
            </a:extLst>
          </p:cNvPr>
          <p:cNvSpPr txBox="1"/>
          <p:nvPr/>
        </p:nvSpPr>
        <p:spPr>
          <a:xfrm>
            <a:off x="6331974" y="6432016"/>
            <a:ext cx="6096000" cy="369332"/>
          </a:xfrm>
          <a:prstGeom prst="rect">
            <a:avLst/>
          </a:prstGeom>
          <a:noFill/>
        </p:spPr>
        <p:txBody>
          <a:bodyPr wrap="square">
            <a:spAutoFit/>
          </a:bodyPr>
          <a:lstStyle/>
          <a:p>
            <a:r>
              <a:rPr lang="en-US" dirty="0"/>
              <a:t>Department of Electronics &amp; Communication Engineering . 12</a:t>
            </a:r>
            <a:endParaRPr lang="en-IN" dirty="0"/>
          </a:p>
        </p:txBody>
      </p:sp>
      <p:cxnSp>
        <p:nvCxnSpPr>
          <p:cNvPr id="11" name="Straight Connector 10">
            <a:extLst>
              <a:ext uri="{FF2B5EF4-FFF2-40B4-BE49-F238E27FC236}">
                <a16:creationId xmlns:a16="http://schemas.microsoft.com/office/drawing/2014/main" id="{04988E7A-D9F2-5A6C-DF66-278BAB2BE6B9}"/>
              </a:ext>
            </a:extLst>
          </p:cNvPr>
          <p:cNvCxnSpPr/>
          <p:nvPr/>
        </p:nvCxnSpPr>
        <p:spPr>
          <a:xfrm>
            <a:off x="2120630" y="1322962"/>
            <a:ext cx="0" cy="175098"/>
          </a:xfrm>
          <a:prstGeom prst="line">
            <a:avLst/>
          </a:prstGeom>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A22436A5-4D7D-BD8B-ACA2-BC993E18B3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1062190"/>
            <a:ext cx="10312130" cy="5301290"/>
          </a:xfrm>
          <a:prstGeom prst="rect">
            <a:avLst/>
          </a:prstGeom>
        </p:spPr>
      </p:pic>
    </p:spTree>
    <p:extLst>
      <p:ext uri="{BB962C8B-B14F-4D97-AF65-F5344CB8AC3E}">
        <p14:creationId xmlns:p14="http://schemas.microsoft.com/office/powerpoint/2010/main" val="2761481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5418-E4A1-2249-EB9D-4119D5581065}"/>
            </a:ext>
          </a:extLst>
        </p:cNvPr>
        <p:cNvGrpSpPr/>
        <p:nvPr/>
      </p:nvGrpSpPr>
      <p:grpSpPr>
        <a:xfrm>
          <a:off x="0" y="0"/>
          <a:ext cx="0" cy="0"/>
          <a:chOff x="0" y="0"/>
          <a:chExt cx="0" cy="0"/>
        </a:xfrm>
      </p:grpSpPr>
      <p:pic>
        <p:nvPicPr>
          <p:cNvPr id="10" name="Google Shape;55;p13">
            <a:extLst>
              <a:ext uri="{FF2B5EF4-FFF2-40B4-BE49-F238E27FC236}">
                <a16:creationId xmlns:a16="http://schemas.microsoft.com/office/drawing/2014/main" id="{B5FA087A-CA9A-87EC-E554-F243AB51304A}"/>
              </a:ext>
            </a:extLst>
          </p:cNvPr>
          <p:cNvPicPr preferRelativeResize="0"/>
          <p:nvPr/>
        </p:nvPicPr>
        <p:blipFill rotWithShape="1">
          <a:blip r:embed="rId2">
            <a:alphaModFix/>
          </a:blip>
          <a:srcRect t="15763" r="38199" b="64453"/>
          <a:stretch/>
        </p:blipFill>
        <p:spPr>
          <a:xfrm>
            <a:off x="7251501" y="0"/>
            <a:ext cx="3559278" cy="577700"/>
          </a:xfrm>
          <a:prstGeom prst="rect">
            <a:avLst/>
          </a:prstGeom>
          <a:noFill/>
          <a:ln>
            <a:noFill/>
          </a:ln>
        </p:spPr>
      </p:pic>
      <p:cxnSp>
        <p:nvCxnSpPr>
          <p:cNvPr id="11" name="Google Shape;56;p13">
            <a:extLst>
              <a:ext uri="{FF2B5EF4-FFF2-40B4-BE49-F238E27FC236}">
                <a16:creationId xmlns:a16="http://schemas.microsoft.com/office/drawing/2014/main" id="{BFDDA9F9-A578-E376-E397-1CB67CE84ECD}"/>
              </a:ext>
            </a:extLst>
          </p:cNvPr>
          <p:cNvCxnSpPr>
            <a:cxnSpLocks/>
          </p:cNvCxnSpPr>
          <p:nvPr/>
        </p:nvCxnSpPr>
        <p:spPr>
          <a:xfrm>
            <a:off x="260548" y="609601"/>
            <a:ext cx="11253024" cy="0"/>
          </a:xfrm>
          <a:prstGeom prst="straightConnector1">
            <a:avLst/>
          </a:prstGeom>
          <a:noFill/>
          <a:ln w="31750" cap="flat" cmpd="sng">
            <a:solidFill>
              <a:srgbClr val="E4948A"/>
            </a:solidFill>
            <a:prstDash val="solid"/>
            <a:round/>
            <a:headEnd type="none" w="sm" len="sm"/>
            <a:tailEnd type="none" w="sm" len="sm"/>
          </a:ln>
        </p:spPr>
      </p:cxnSp>
      <p:cxnSp>
        <p:nvCxnSpPr>
          <p:cNvPr id="12" name="Google Shape;61;p13">
            <a:extLst>
              <a:ext uri="{FF2B5EF4-FFF2-40B4-BE49-F238E27FC236}">
                <a16:creationId xmlns:a16="http://schemas.microsoft.com/office/drawing/2014/main" id="{1F49545C-5756-DEC1-7376-A63FF5E71502}"/>
              </a:ext>
            </a:extLst>
          </p:cNvPr>
          <p:cNvCxnSpPr>
            <a:cxnSpLocks/>
          </p:cNvCxnSpPr>
          <p:nvPr/>
        </p:nvCxnSpPr>
        <p:spPr>
          <a:xfrm>
            <a:off x="307253" y="6363710"/>
            <a:ext cx="11159613" cy="0"/>
          </a:xfrm>
          <a:prstGeom prst="straightConnector1">
            <a:avLst/>
          </a:prstGeom>
          <a:noFill/>
          <a:ln w="31750" cap="flat" cmpd="sng">
            <a:solidFill>
              <a:srgbClr val="E4948A"/>
            </a:solidFill>
            <a:prstDash val="solid"/>
            <a:round/>
            <a:headEnd type="none" w="sm" len="sm"/>
            <a:tailEnd type="none" w="sm" len="sm"/>
          </a:ln>
        </p:spPr>
      </p:cxnSp>
      <p:sp>
        <p:nvSpPr>
          <p:cNvPr id="13" name="TextBox 12">
            <a:extLst>
              <a:ext uri="{FF2B5EF4-FFF2-40B4-BE49-F238E27FC236}">
                <a16:creationId xmlns:a16="http://schemas.microsoft.com/office/drawing/2014/main" id="{793307EB-C430-18C7-5DAB-FDD22BCB1152}"/>
              </a:ext>
            </a:extLst>
          </p:cNvPr>
          <p:cNvSpPr txBox="1"/>
          <p:nvPr/>
        </p:nvSpPr>
        <p:spPr>
          <a:xfrm>
            <a:off x="6334428" y="6476457"/>
            <a:ext cx="6096000" cy="369332"/>
          </a:xfrm>
          <a:prstGeom prst="rect">
            <a:avLst/>
          </a:prstGeom>
          <a:noFill/>
        </p:spPr>
        <p:txBody>
          <a:bodyPr wrap="square">
            <a:spAutoFit/>
          </a:bodyPr>
          <a:lstStyle/>
          <a:p>
            <a:r>
              <a:rPr lang="en-US" dirty="0"/>
              <a:t>Department of Electronics &amp; Communication Engineering . 13</a:t>
            </a:r>
            <a:endParaRPr lang="en-IN" dirty="0"/>
          </a:p>
        </p:txBody>
      </p:sp>
      <p:sp>
        <p:nvSpPr>
          <p:cNvPr id="17" name="Rectangle 1">
            <a:extLst>
              <a:ext uri="{FF2B5EF4-FFF2-40B4-BE49-F238E27FC236}">
                <a16:creationId xmlns:a16="http://schemas.microsoft.com/office/drawing/2014/main" id="{CE8BB05F-E141-A6F4-C046-F1328BF71F06}"/>
              </a:ext>
            </a:extLst>
          </p:cNvPr>
          <p:cNvSpPr>
            <a:spLocks noChangeArrowheads="1"/>
          </p:cNvSpPr>
          <p:nvPr/>
        </p:nvSpPr>
        <p:spPr bwMode="auto">
          <a:xfrm>
            <a:off x="178502" y="1439380"/>
            <a:ext cx="1183499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400" dirty="0"/>
              <a:t>The results show that the proposed </a:t>
            </a:r>
            <a:r>
              <a:rPr lang="en-US" sz="2400" dirty="0" err="1"/>
              <a:t>TransFAD</a:t>
            </a:r>
            <a:r>
              <a:rPr lang="en-US" sz="2400" dirty="0"/>
              <a:t> framework effectively improves transmission line fault detection by combining engineered electrical features with CNN–LSTM-based temporal learning. The hybrid ensemble captures both instantaneous and time-varying fault characteristics, leading to higher accuracy and robustness under noisy conditions. Among the evaluated models, the Decision Tree + CNN–LSTM ensemble achieves the best performance, with lower error metrics and higher consistency. The weighted ensemble strategy further enhances reliability by leveraging the strengths of both machine learning and deep learning approaches, making the framework suitable for practical power system protection.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a:t>
            </a:r>
          </a:p>
        </p:txBody>
      </p:sp>
      <p:sp>
        <p:nvSpPr>
          <p:cNvPr id="19" name="TextBox 18">
            <a:extLst>
              <a:ext uri="{FF2B5EF4-FFF2-40B4-BE49-F238E27FC236}">
                <a16:creationId xmlns:a16="http://schemas.microsoft.com/office/drawing/2014/main" id="{A5795383-0920-AED8-F077-587701853D5C}"/>
              </a:ext>
            </a:extLst>
          </p:cNvPr>
          <p:cNvSpPr txBox="1"/>
          <p:nvPr/>
        </p:nvSpPr>
        <p:spPr>
          <a:xfrm>
            <a:off x="307253" y="641503"/>
            <a:ext cx="2690590" cy="646331"/>
          </a:xfrm>
          <a:prstGeom prst="rect">
            <a:avLst/>
          </a:prstGeom>
          <a:noFill/>
        </p:spPr>
        <p:txBody>
          <a:bodyPr wrap="square" rtlCol="0">
            <a:spAutoFit/>
          </a:bodyPr>
          <a:lstStyle/>
          <a:p>
            <a:r>
              <a:rPr lang="en-IN" sz="3600" b="1" dirty="0">
                <a:latin typeface="Aharoni" panose="02010803020104030203" pitchFamily="2" charset="-79"/>
                <a:cs typeface="Aharoni" panose="02010803020104030203" pitchFamily="2" charset="-79"/>
              </a:rPr>
              <a:t>Discussion</a:t>
            </a:r>
          </a:p>
        </p:txBody>
      </p:sp>
    </p:spTree>
    <p:extLst>
      <p:ext uri="{BB962C8B-B14F-4D97-AF65-F5344CB8AC3E}">
        <p14:creationId xmlns:p14="http://schemas.microsoft.com/office/powerpoint/2010/main" val="4113646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3087-87BE-8710-5624-5755E19C61E4}"/>
              </a:ext>
            </a:extLst>
          </p:cNvPr>
          <p:cNvSpPr>
            <a:spLocks noGrp="1"/>
          </p:cNvSpPr>
          <p:nvPr>
            <p:ph type="title"/>
          </p:nvPr>
        </p:nvSpPr>
        <p:spPr>
          <a:xfrm>
            <a:off x="381966" y="1234929"/>
            <a:ext cx="10515600" cy="379851"/>
          </a:xfrm>
        </p:spPr>
        <p:txBody>
          <a:bodyPr>
            <a:noAutofit/>
          </a:bodyPr>
          <a:lstStyle/>
          <a:p>
            <a:r>
              <a:rPr lang="en-US" sz="3600" b="1" dirty="0">
                <a:latin typeface="Aharoni" panose="02010803020104030203" pitchFamily="2" charset="-79"/>
                <a:cs typeface="Aharoni" panose="02010803020104030203" pitchFamily="2" charset="-79"/>
              </a:rPr>
              <a:t>Conclusion</a:t>
            </a:r>
            <a:endParaRPr lang="en-IN" sz="3600" b="1" dirty="0">
              <a:latin typeface="Aharoni" panose="02010803020104030203" pitchFamily="2" charset="-79"/>
              <a:cs typeface="Aharoni" panose="02010803020104030203" pitchFamily="2" charset="-79"/>
            </a:endParaRPr>
          </a:p>
        </p:txBody>
      </p:sp>
      <p:pic>
        <p:nvPicPr>
          <p:cNvPr id="4" name="Google Shape;55;p13">
            <a:extLst>
              <a:ext uri="{FF2B5EF4-FFF2-40B4-BE49-F238E27FC236}">
                <a16:creationId xmlns:a16="http://schemas.microsoft.com/office/drawing/2014/main" id="{B465C97C-7A49-1AB5-8E65-E3900294B295}"/>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74378520-5109-E18B-9DBC-69B2C26ABEEA}"/>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3C26EB0E-5AA0-667E-F15D-D59E5B2DCF90}"/>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1E9DA765-A036-0CBA-5EE1-58DE3331FF33}"/>
              </a:ext>
            </a:extLst>
          </p:cNvPr>
          <p:cNvSpPr txBox="1"/>
          <p:nvPr/>
        </p:nvSpPr>
        <p:spPr>
          <a:xfrm>
            <a:off x="6204155" y="6419594"/>
            <a:ext cx="6292645" cy="369332"/>
          </a:xfrm>
          <a:prstGeom prst="rect">
            <a:avLst/>
          </a:prstGeom>
          <a:noFill/>
        </p:spPr>
        <p:txBody>
          <a:bodyPr wrap="square">
            <a:spAutoFit/>
          </a:bodyPr>
          <a:lstStyle/>
          <a:p>
            <a:r>
              <a:rPr lang="en-US" dirty="0"/>
              <a:t>Department of Electronics &amp; Communication Engineering . 14</a:t>
            </a:r>
            <a:endParaRPr lang="en-IN" dirty="0"/>
          </a:p>
        </p:txBody>
      </p:sp>
      <p:sp>
        <p:nvSpPr>
          <p:cNvPr id="7" name="Rectangle 1">
            <a:extLst>
              <a:ext uri="{FF2B5EF4-FFF2-40B4-BE49-F238E27FC236}">
                <a16:creationId xmlns:a16="http://schemas.microsoft.com/office/drawing/2014/main" id="{8F6BC44A-DE30-6378-F185-018111F790EF}"/>
              </a:ext>
            </a:extLst>
          </p:cNvPr>
          <p:cNvSpPr>
            <a:spLocks noGrp="1" noChangeArrowheads="1"/>
          </p:cNvSpPr>
          <p:nvPr>
            <p:ph idx="1"/>
          </p:nvPr>
        </p:nvSpPr>
        <p:spPr bwMode="auto">
          <a:xfrm>
            <a:off x="173621" y="2093277"/>
            <a:ext cx="115538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2400" dirty="0"/>
              <a:t>This work presented </a:t>
            </a:r>
            <a:r>
              <a:rPr lang="en-US" sz="2400" dirty="0" err="1"/>
              <a:t>TransFAD</a:t>
            </a:r>
            <a:r>
              <a:rPr lang="en-US" sz="2400" dirty="0"/>
              <a:t>, a hybrid machine learning and deep learning framework for transmission line fault detection and classification using three-phase voltage and current measurements. By combining engineered electrical features with CNN–LSTM-based temporal learning and weighted ensemble fusion, the proposed system effectively captures both steady-state and transient fault characteristics. Experimental results demonstrate that the hybrid ensemble outperforms standalone models in terms of accuracy and error-based metrics, indicating its reliability under noisy and imbalanced conditions. The proposed approach is therefore suitable for practical and real-time power system protection applications.</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318158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0DEB6-6C81-DF29-A4BE-C673D112F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768615-F225-0DCB-413A-855FBA01AC66}"/>
              </a:ext>
            </a:extLst>
          </p:cNvPr>
          <p:cNvSpPr>
            <a:spLocks noGrp="1"/>
          </p:cNvSpPr>
          <p:nvPr>
            <p:ph type="title"/>
          </p:nvPr>
        </p:nvSpPr>
        <p:spPr>
          <a:xfrm>
            <a:off x="217487" y="567429"/>
            <a:ext cx="10515600" cy="379851"/>
          </a:xfrm>
        </p:spPr>
        <p:txBody>
          <a:bodyPr>
            <a:noAutofit/>
          </a:bodyPr>
          <a:lstStyle/>
          <a:p>
            <a:r>
              <a:rPr lang="en-US" sz="3600" b="1" dirty="0">
                <a:latin typeface="Aharoni" panose="02010803020104030203" pitchFamily="2" charset="-79"/>
                <a:cs typeface="Aharoni" panose="02010803020104030203" pitchFamily="2" charset="-79"/>
              </a:rPr>
              <a:t>Future Work</a:t>
            </a:r>
            <a:endParaRPr lang="en-IN" sz="3600" b="1" dirty="0">
              <a:latin typeface="Aharoni" panose="02010803020104030203" pitchFamily="2" charset="-79"/>
              <a:cs typeface="Aharoni" panose="02010803020104030203" pitchFamily="2" charset="-79"/>
            </a:endParaRPr>
          </a:p>
        </p:txBody>
      </p:sp>
      <p:pic>
        <p:nvPicPr>
          <p:cNvPr id="4" name="Google Shape;55;p13">
            <a:extLst>
              <a:ext uri="{FF2B5EF4-FFF2-40B4-BE49-F238E27FC236}">
                <a16:creationId xmlns:a16="http://schemas.microsoft.com/office/drawing/2014/main" id="{6D0E9795-501B-CEED-0F80-9D52D87BF325}"/>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885D0C6E-5516-76F5-CE2C-22A9051CA6A2}"/>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7B4B30C7-9880-5C6A-D368-52657602622D}"/>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E0D60E47-5C0E-A427-AA3C-C9835DDE9C72}"/>
              </a:ext>
            </a:extLst>
          </p:cNvPr>
          <p:cNvSpPr txBox="1"/>
          <p:nvPr/>
        </p:nvSpPr>
        <p:spPr>
          <a:xfrm>
            <a:off x="6204155" y="6419594"/>
            <a:ext cx="6292645" cy="369332"/>
          </a:xfrm>
          <a:prstGeom prst="rect">
            <a:avLst/>
          </a:prstGeom>
          <a:noFill/>
        </p:spPr>
        <p:txBody>
          <a:bodyPr wrap="square">
            <a:spAutoFit/>
          </a:bodyPr>
          <a:lstStyle/>
          <a:p>
            <a:r>
              <a:rPr lang="en-US" dirty="0"/>
              <a:t>Department of Electronics &amp; Communication Engineering . 14</a:t>
            </a:r>
            <a:endParaRPr lang="en-IN" dirty="0"/>
          </a:p>
        </p:txBody>
      </p:sp>
      <p:sp>
        <p:nvSpPr>
          <p:cNvPr id="3" name="Rectangle 1">
            <a:extLst>
              <a:ext uri="{FF2B5EF4-FFF2-40B4-BE49-F238E27FC236}">
                <a16:creationId xmlns:a16="http://schemas.microsoft.com/office/drawing/2014/main" id="{05801B9C-7F25-C810-ECAF-8A928399C653}"/>
              </a:ext>
            </a:extLst>
          </p:cNvPr>
          <p:cNvSpPr>
            <a:spLocks noGrp="1" noChangeArrowheads="1"/>
          </p:cNvSpPr>
          <p:nvPr>
            <p:ph idx="1"/>
          </p:nvPr>
        </p:nvSpPr>
        <p:spPr bwMode="auto">
          <a:xfrm>
            <a:off x="270871" y="1738901"/>
            <a:ext cx="1165025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rPr>
              <a:t>Extend the proposed framework to perform fault location estimation in addition to fault detection and </a:t>
            </a:r>
            <a:r>
              <a:rPr kumimoji="0" lang="en-US" altLang="en-US" b="0" i="0" u="none" strike="noStrike" cap="none" normalizeH="0" baseline="0" dirty="0" err="1">
                <a:ln>
                  <a:noFill/>
                </a:ln>
                <a:solidFill>
                  <a:schemeClr val="tx1"/>
                </a:solidFill>
                <a:effectLst/>
              </a:rPr>
              <a:t>classification.Validate</a:t>
            </a:r>
            <a:r>
              <a:rPr kumimoji="0" lang="en-US" altLang="en-US" b="0" i="0" u="none" strike="noStrike" cap="none" normalizeH="0" baseline="0" dirty="0">
                <a:ln>
                  <a:noFill/>
                </a:ln>
                <a:solidFill>
                  <a:schemeClr val="tx1"/>
                </a:solidFill>
                <a:effectLst/>
              </a:rPr>
              <a:t> the model using real-time field data from digital relays and </a:t>
            </a:r>
            <a:r>
              <a:rPr kumimoji="0" lang="en-US" altLang="en-US" b="0" i="0" u="none" strike="noStrike" cap="none" normalizeH="0" baseline="0" dirty="0" err="1">
                <a:ln>
                  <a:noFill/>
                </a:ln>
                <a:solidFill>
                  <a:schemeClr val="tx1"/>
                </a:solidFill>
                <a:effectLst/>
              </a:rPr>
              <a:t>PMUs.Optimize</a:t>
            </a:r>
            <a:r>
              <a:rPr kumimoji="0" lang="en-US" altLang="en-US" b="0" i="0" u="none" strike="noStrike" cap="none" normalizeH="0" baseline="0" dirty="0">
                <a:ln>
                  <a:noFill/>
                </a:ln>
                <a:solidFill>
                  <a:schemeClr val="tx1"/>
                </a:solidFill>
                <a:effectLst/>
              </a:rPr>
              <a:t> the architecture for real-time deployment on embedded or edge </a:t>
            </a:r>
            <a:r>
              <a:rPr kumimoji="0" lang="en-US" altLang="en-US" b="0" i="0" u="none" strike="noStrike" cap="none" normalizeH="0" baseline="0" dirty="0" err="1">
                <a:ln>
                  <a:noFill/>
                </a:ln>
                <a:solidFill>
                  <a:schemeClr val="tx1"/>
                </a:solidFill>
                <a:effectLst/>
              </a:rPr>
              <a:t>devices.Expand</a:t>
            </a:r>
            <a:r>
              <a:rPr kumimoji="0" lang="en-US" altLang="en-US" b="0" i="0" u="none" strike="noStrike" cap="none" normalizeH="0" baseline="0" dirty="0">
                <a:ln>
                  <a:noFill/>
                </a:ln>
                <a:solidFill>
                  <a:schemeClr val="tx1"/>
                </a:solidFill>
                <a:effectLst/>
              </a:rPr>
              <a:t> the framework to handle multi-terminal and complex transmission </a:t>
            </a:r>
            <a:r>
              <a:rPr kumimoji="0" lang="en-US" altLang="en-US" b="0" i="0" u="none" strike="noStrike" cap="none" normalizeH="0" baseline="0" dirty="0" err="1">
                <a:ln>
                  <a:noFill/>
                </a:ln>
                <a:solidFill>
                  <a:schemeClr val="tx1"/>
                </a:solidFill>
                <a:effectLst/>
              </a:rPr>
              <a:t>networks.Investigate</a:t>
            </a:r>
            <a:r>
              <a:rPr kumimoji="0" lang="en-US" altLang="en-US" b="0" i="0" u="none" strike="noStrike" cap="none" normalizeH="0" baseline="0" dirty="0">
                <a:ln>
                  <a:noFill/>
                </a:ln>
                <a:solidFill>
                  <a:schemeClr val="tx1"/>
                </a:solidFill>
                <a:effectLst/>
              </a:rPr>
              <a:t> adaptive learning techniques to improve performance under changing grid conditions.</a:t>
            </a:r>
          </a:p>
        </p:txBody>
      </p:sp>
    </p:spTree>
    <p:extLst>
      <p:ext uri="{BB962C8B-B14F-4D97-AF65-F5344CB8AC3E}">
        <p14:creationId xmlns:p14="http://schemas.microsoft.com/office/powerpoint/2010/main" val="764991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C505-8D2E-71E3-C746-B320C523AD98}"/>
              </a:ext>
            </a:extLst>
          </p:cNvPr>
          <p:cNvSpPr>
            <a:spLocks noGrp="1"/>
          </p:cNvSpPr>
          <p:nvPr>
            <p:ph type="title"/>
          </p:nvPr>
        </p:nvSpPr>
        <p:spPr>
          <a:xfrm>
            <a:off x="516193" y="1097267"/>
            <a:ext cx="10515600" cy="558675"/>
          </a:xfrm>
        </p:spPr>
        <p:txBody>
          <a:bodyPr>
            <a:noAutofit/>
          </a:bodyPr>
          <a:lstStyle/>
          <a:p>
            <a:r>
              <a:rPr lang="en-US" sz="3600" b="1" dirty="0">
                <a:latin typeface="Aharoni" panose="02010803020104030203" pitchFamily="2" charset="-79"/>
                <a:cs typeface="Aharoni" panose="02010803020104030203" pitchFamily="2" charset="-79"/>
              </a:rPr>
              <a:t>References</a:t>
            </a:r>
            <a:endParaRPr lang="en-IN" sz="3600" b="1" dirty="0">
              <a:latin typeface="Aharoni" panose="02010803020104030203" pitchFamily="2" charset="-79"/>
              <a:cs typeface="Aharoni" panose="02010803020104030203" pitchFamily="2" charset="-79"/>
            </a:endParaRPr>
          </a:p>
        </p:txBody>
      </p:sp>
      <p:pic>
        <p:nvPicPr>
          <p:cNvPr id="4" name="Google Shape;55;p13">
            <a:extLst>
              <a:ext uri="{FF2B5EF4-FFF2-40B4-BE49-F238E27FC236}">
                <a16:creationId xmlns:a16="http://schemas.microsoft.com/office/drawing/2014/main" id="{F276DD4B-6F82-8CE8-30AB-E3068B233525}"/>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E6778870-E738-9647-C006-483E532DE178}"/>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44DF0614-1745-DD70-2659-6279C6F7E115}"/>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D7FDE32E-3E50-F146-A83B-330B5511AC69}"/>
              </a:ext>
            </a:extLst>
          </p:cNvPr>
          <p:cNvSpPr txBox="1"/>
          <p:nvPr/>
        </p:nvSpPr>
        <p:spPr>
          <a:xfrm>
            <a:off x="6253316" y="6384098"/>
            <a:ext cx="6233652" cy="369332"/>
          </a:xfrm>
          <a:prstGeom prst="rect">
            <a:avLst/>
          </a:prstGeom>
          <a:noFill/>
        </p:spPr>
        <p:txBody>
          <a:bodyPr wrap="square">
            <a:spAutoFit/>
          </a:bodyPr>
          <a:lstStyle/>
          <a:p>
            <a:r>
              <a:rPr lang="en-US" dirty="0"/>
              <a:t>Department of Electronics &amp; Communication Engineering . 15</a:t>
            </a:r>
            <a:endParaRPr lang="en-IN" dirty="0"/>
          </a:p>
        </p:txBody>
      </p:sp>
      <p:sp>
        <p:nvSpPr>
          <p:cNvPr id="10" name="Rectangle 3">
            <a:extLst>
              <a:ext uri="{FF2B5EF4-FFF2-40B4-BE49-F238E27FC236}">
                <a16:creationId xmlns:a16="http://schemas.microsoft.com/office/drawing/2014/main" id="{502BEE9A-1781-1FAE-67B7-2FD01A078CCA}"/>
              </a:ext>
            </a:extLst>
          </p:cNvPr>
          <p:cNvSpPr>
            <a:spLocks noGrp="1" noChangeArrowheads="1"/>
          </p:cNvSpPr>
          <p:nvPr>
            <p:ph idx="1"/>
          </p:nvPr>
        </p:nvSpPr>
        <p:spPr bwMode="auto">
          <a:xfrm>
            <a:off x="321013" y="1879223"/>
            <a:ext cx="1139658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 </a:t>
            </a:r>
            <a:r>
              <a:rPr kumimoji="0" lang="en-US" altLang="en-US" sz="1800" b="0" i="0" u="none" strike="noStrike" cap="none" normalizeH="0" baseline="0" dirty="0" err="1">
                <a:ln>
                  <a:noFill/>
                </a:ln>
                <a:solidFill>
                  <a:schemeClr val="tx1"/>
                </a:solidFill>
                <a:effectLst/>
                <a:latin typeface="Arial" panose="020B0604020202020204" pitchFamily="34" charset="0"/>
              </a:rPr>
              <a:t>Özupak</a:t>
            </a:r>
            <a:r>
              <a:rPr kumimoji="0" lang="en-US" altLang="en-US" sz="1800" b="0" i="0" u="none" strike="noStrike" cap="none" normalizeH="0" baseline="0" dirty="0">
                <a:ln>
                  <a:noFill/>
                </a:ln>
                <a:solidFill>
                  <a:schemeClr val="tx1"/>
                </a:solidFill>
                <a:effectLst/>
                <a:latin typeface="Arial" panose="020B0604020202020204" pitchFamily="34" charset="0"/>
              </a:rPr>
              <a:t>, “Machine learning-based fault detection in transmission lines: A comparative study with random search optimization,” </a:t>
            </a:r>
            <a:r>
              <a:rPr kumimoji="0" lang="en-US" altLang="en-US" sz="1800" b="0" i="1" u="none" strike="noStrike" cap="none" normalizeH="0" baseline="0" dirty="0">
                <a:ln>
                  <a:noFill/>
                </a:ln>
                <a:solidFill>
                  <a:schemeClr val="tx1"/>
                </a:solidFill>
                <a:effectLst/>
                <a:latin typeface="Arial" panose="020B0604020202020204" pitchFamily="34" charset="0"/>
              </a:rPr>
              <a:t>Bull. Polish Acad. Sci., Tech. Sci.</a:t>
            </a:r>
            <a:r>
              <a:rPr kumimoji="0" lang="en-US" altLang="en-US" sz="1800" b="0" i="0" u="none" strike="noStrike" cap="none" normalizeH="0" baseline="0" dirty="0">
                <a:ln>
                  <a:noFill/>
                </a:ln>
                <a:solidFill>
                  <a:schemeClr val="tx1"/>
                </a:solidFill>
                <a:effectLst/>
                <a:latin typeface="Arial" panose="020B0604020202020204" pitchFamily="34" charset="0"/>
              </a:rPr>
              <a:t>, vol. 73, 2025.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H. Ali, A. M. </a:t>
            </a:r>
            <a:r>
              <a:rPr kumimoji="0" lang="en-US" altLang="en-US" sz="1800" b="0" i="0" u="none" strike="noStrike" cap="none" normalizeH="0" baseline="0" dirty="0" err="1">
                <a:ln>
                  <a:noFill/>
                </a:ln>
                <a:solidFill>
                  <a:schemeClr val="tx1"/>
                </a:solidFill>
                <a:effectLst/>
                <a:latin typeface="Arial" panose="020B0604020202020204" pitchFamily="34" charset="0"/>
              </a:rPr>
              <a:t>Abdulsada</a:t>
            </a:r>
            <a:r>
              <a:rPr kumimoji="0" lang="en-US" altLang="en-US" sz="1800" b="0" i="0" u="none" strike="noStrike" cap="none" normalizeH="0" baseline="0" dirty="0">
                <a:ln>
                  <a:noFill/>
                </a:ln>
                <a:solidFill>
                  <a:schemeClr val="tx1"/>
                </a:solidFill>
                <a:effectLst/>
                <a:latin typeface="Arial" panose="020B0604020202020204" pitchFamily="34" charset="0"/>
              </a:rPr>
              <a:t>, and M. T. Yaseen, “Detection of power transmission line faults using k-nearest neighbors,”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9, pp. 135217–135228,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 Salam, M. S. Rahman, and A. K. M. M. Islam, “Robust fault detection and classification using machine learning,” </a:t>
            </a:r>
            <a:r>
              <a:rPr kumimoji="0" lang="en-US" altLang="en-US" sz="1800" b="0" i="1" u="none" strike="noStrike" cap="none" normalizeH="0" baseline="0" dirty="0">
                <a:ln>
                  <a:noFill/>
                </a:ln>
                <a:solidFill>
                  <a:schemeClr val="tx1"/>
                </a:solidFill>
                <a:effectLst/>
                <a:latin typeface="Arial" panose="020B0604020202020204" pitchFamily="34" charset="0"/>
              </a:rPr>
              <a:t>Electric Power Systems Research</a:t>
            </a:r>
            <a:r>
              <a:rPr kumimoji="0" lang="en-US" altLang="en-US" sz="1800" b="0" i="0" u="none" strike="noStrike" cap="none" normalizeH="0" baseline="0" dirty="0">
                <a:ln>
                  <a:noFill/>
                </a:ln>
                <a:solidFill>
                  <a:schemeClr val="tx1"/>
                </a:solidFill>
                <a:effectLst/>
                <a:latin typeface="Arial" panose="020B0604020202020204" pitchFamily="34" charset="0"/>
              </a:rPr>
              <a:t>, vol. 189, 2020.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 R. </a:t>
            </a:r>
            <a:r>
              <a:rPr kumimoji="0" lang="en-US" altLang="en-US" sz="1800" b="0" i="0" u="none" strike="noStrike" cap="none" normalizeH="0" baseline="0" dirty="0" err="1">
                <a:ln>
                  <a:noFill/>
                </a:ln>
                <a:solidFill>
                  <a:schemeClr val="tx1"/>
                </a:solidFill>
                <a:effectLst/>
                <a:latin typeface="Arial" panose="020B0604020202020204" pitchFamily="34" charset="0"/>
              </a:rPr>
              <a:t>Samantaray</a:t>
            </a:r>
            <a:r>
              <a:rPr kumimoji="0" lang="en-US" altLang="en-US" sz="1800" b="0" i="0" u="none" strike="noStrike" cap="none" normalizeH="0" baseline="0" dirty="0">
                <a:ln>
                  <a:noFill/>
                </a:ln>
                <a:solidFill>
                  <a:schemeClr val="tx1"/>
                </a:solidFill>
                <a:effectLst/>
                <a:latin typeface="Arial" panose="020B0604020202020204" pitchFamily="34" charset="0"/>
              </a:rPr>
              <a:t>, P. K. Dash, and G. Panda, “Fast and accurate fault detection using extreme learning machine,” </a:t>
            </a:r>
            <a:r>
              <a:rPr kumimoji="0" lang="en-US" altLang="en-US" sz="1800" b="0" i="1" u="none" strike="noStrike" cap="none" normalizeH="0" baseline="0" dirty="0">
                <a:ln>
                  <a:noFill/>
                </a:ln>
                <a:solidFill>
                  <a:schemeClr val="tx1"/>
                </a:solidFill>
                <a:effectLst/>
                <a:latin typeface="Arial" panose="020B0604020202020204" pitchFamily="34" charset="0"/>
              </a:rPr>
              <a:t>IET Generation, Transmission &amp; Distribution</a:t>
            </a:r>
            <a:r>
              <a:rPr kumimoji="0" lang="en-US" altLang="en-US" sz="1800" b="0" i="0" u="none" strike="noStrike" cap="none" normalizeH="0" baseline="0" dirty="0">
                <a:ln>
                  <a:noFill/>
                </a:ln>
                <a:solidFill>
                  <a:schemeClr val="tx1"/>
                </a:solidFill>
                <a:effectLst/>
                <a:latin typeface="Arial" panose="020B0604020202020204" pitchFamily="34" charset="0"/>
              </a:rPr>
              <a:t>, vol. 3, no. 5, pp. 431–441, 2009.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 </a:t>
            </a:r>
            <a:r>
              <a:rPr kumimoji="0" lang="en-US" altLang="en-US" sz="1800" b="0" i="0" u="none" strike="noStrike" cap="none" normalizeH="0" baseline="0" dirty="0" err="1">
                <a:ln>
                  <a:noFill/>
                </a:ln>
                <a:solidFill>
                  <a:schemeClr val="tx1"/>
                </a:solidFill>
                <a:effectLst/>
                <a:latin typeface="Arial" panose="020B0604020202020204" pitchFamily="34" charset="0"/>
              </a:rPr>
              <a:t>Özupak</a:t>
            </a:r>
            <a:r>
              <a:rPr kumimoji="0" lang="en-US" altLang="en-US" sz="1800" b="0" i="0" u="none" strike="noStrike" cap="none" normalizeH="0" baseline="0" dirty="0">
                <a:ln>
                  <a:noFill/>
                </a:ln>
                <a:solidFill>
                  <a:schemeClr val="tx1"/>
                </a:solidFill>
                <a:effectLst/>
                <a:latin typeface="Arial" panose="020B0604020202020204" pitchFamily="34" charset="0"/>
              </a:rPr>
              <a:t>, “Transmission line fault detection using artificial intelligence techniques,” </a:t>
            </a:r>
            <a:r>
              <a:rPr kumimoji="0" lang="en-US" altLang="en-US" sz="1800" b="0" i="1" u="none" strike="noStrike" cap="none" normalizeH="0" baseline="0" dirty="0">
                <a:ln>
                  <a:noFill/>
                </a:ln>
                <a:solidFill>
                  <a:schemeClr val="tx1"/>
                </a:solidFill>
                <a:effectLst/>
                <a:latin typeface="Arial" panose="020B0604020202020204" pitchFamily="34" charset="0"/>
              </a:rPr>
              <a:t>Proc. IPST</a:t>
            </a:r>
            <a:r>
              <a:rPr kumimoji="0" lang="en-US" altLang="en-US" sz="1800" b="0" i="0" u="none" strike="noStrike" cap="none" normalizeH="0" baseline="0" dirty="0">
                <a:ln>
                  <a:noFill/>
                </a:ln>
                <a:solidFill>
                  <a:schemeClr val="tx1"/>
                </a:solidFill>
                <a:effectLst/>
                <a:latin typeface="Arial" panose="020B0604020202020204" pitchFamily="34" charset="0"/>
              </a:rPr>
              <a:t>, 2019.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 K. Patel and A. Panahi, “Transmission line fault detection using machine learning approaches,” </a:t>
            </a:r>
            <a:r>
              <a:rPr kumimoji="0" lang="en-US" altLang="en-US" sz="1800" b="0" i="1" u="none" strike="noStrike" cap="none" normalizeH="0" baseline="0" dirty="0">
                <a:ln>
                  <a:noFill/>
                </a:ln>
                <a:solidFill>
                  <a:schemeClr val="tx1"/>
                </a:solidFill>
                <a:effectLst/>
                <a:latin typeface="Arial" panose="020B0604020202020204" pitchFamily="34" charset="0"/>
              </a:rPr>
              <a:t>IEEE Transactions on Power Delivery</a:t>
            </a:r>
            <a:r>
              <a:rPr kumimoji="0" lang="en-US" altLang="en-US" sz="1800" b="0" i="0" u="none" strike="noStrike" cap="none" normalizeH="0" baseline="0" dirty="0">
                <a:ln>
                  <a:noFill/>
                </a:ln>
                <a:solidFill>
                  <a:schemeClr val="tx1"/>
                </a:solidFill>
                <a:effectLst/>
                <a:latin typeface="Arial" panose="020B0604020202020204" pitchFamily="34" charset="0"/>
              </a:rPr>
              <a:t>, vol. 35, no. 6, pp. 2914–2923, 2020.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J. L. Sarmiento, J. C. Delfino, and E. R. Arboleda, “Machine learning advances in transmission line fault detection: A review,” </a:t>
            </a:r>
            <a:r>
              <a:rPr kumimoji="0" lang="en-US" altLang="en-US" sz="1800" b="0" i="1" u="none" strike="noStrike" cap="none" normalizeH="0" baseline="0" dirty="0">
                <a:ln>
                  <a:noFill/>
                </a:ln>
                <a:solidFill>
                  <a:schemeClr val="tx1"/>
                </a:solidFill>
                <a:effectLst/>
                <a:latin typeface="Arial" panose="020B0604020202020204" pitchFamily="34" charset="0"/>
              </a:rPr>
              <a:t>Preprints</a:t>
            </a:r>
            <a:r>
              <a:rPr kumimoji="0" lang="en-US" altLang="en-US" sz="1800" b="0" i="0" u="none" strike="noStrike" cap="none" normalizeH="0" baseline="0" dirty="0">
                <a:ln>
                  <a:noFill/>
                </a:ln>
                <a:solidFill>
                  <a:schemeClr val="tx1"/>
                </a:solidFill>
                <a:effectLst/>
                <a:latin typeface="Arial" panose="020B0604020202020204" pitchFamily="34" charset="0"/>
              </a:rPr>
              <a:t>, 2024.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 R. </a:t>
            </a:r>
            <a:r>
              <a:rPr kumimoji="0" lang="en-US" altLang="en-US" sz="1800" b="0" i="0" u="none" strike="noStrike" cap="none" normalizeH="0" baseline="0" dirty="0" err="1">
                <a:ln>
                  <a:noFill/>
                </a:ln>
                <a:solidFill>
                  <a:schemeClr val="tx1"/>
                </a:solidFill>
                <a:effectLst/>
                <a:latin typeface="Arial" panose="020B0604020202020204" pitchFamily="34" charset="0"/>
              </a:rPr>
              <a:t>Samantaray</a:t>
            </a:r>
            <a:r>
              <a:rPr kumimoji="0" lang="en-US" altLang="en-US" sz="1800" b="0" i="0" u="none" strike="noStrike" cap="none" normalizeH="0" baseline="0" dirty="0">
                <a:ln>
                  <a:noFill/>
                </a:ln>
                <a:solidFill>
                  <a:schemeClr val="tx1"/>
                </a:solidFill>
                <a:effectLst/>
                <a:latin typeface="Arial" panose="020B0604020202020204" pitchFamily="34" charset="0"/>
              </a:rPr>
              <a:t>, “Decision tree-based fault classification in transmission lines,” </a:t>
            </a:r>
            <a:r>
              <a:rPr kumimoji="0" lang="en-US" altLang="en-US" sz="1800" b="0" i="1" u="none" strike="noStrike" cap="none" normalizeH="0" baseline="0" dirty="0">
                <a:ln>
                  <a:noFill/>
                </a:ln>
                <a:solidFill>
                  <a:schemeClr val="tx1"/>
                </a:solidFill>
                <a:effectLst/>
                <a:latin typeface="Arial" panose="020B0604020202020204" pitchFamily="34" charset="0"/>
              </a:rPr>
              <a:t>IEEE Transactions on Power Delivery</a:t>
            </a:r>
            <a:r>
              <a:rPr kumimoji="0" lang="en-US" altLang="en-US" sz="1800" b="0" i="0" u="none" strike="noStrike" cap="none" normalizeH="0" baseline="0" dirty="0">
                <a:ln>
                  <a:noFill/>
                </a:ln>
                <a:solidFill>
                  <a:schemeClr val="tx1"/>
                </a:solidFill>
                <a:effectLst/>
                <a:latin typeface="Arial" panose="020B0604020202020204" pitchFamily="34" charset="0"/>
              </a:rPr>
              <a:t>, vol. 25, no. 3, pp. 1547–1555, 2010.</a:t>
            </a:r>
          </a:p>
        </p:txBody>
      </p:sp>
    </p:spTree>
    <p:extLst>
      <p:ext uri="{BB962C8B-B14F-4D97-AF65-F5344CB8AC3E}">
        <p14:creationId xmlns:p14="http://schemas.microsoft.com/office/powerpoint/2010/main" val="2673965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DC4BE-3D1B-184E-DC56-1E18D3B1B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9A16A-8D4E-CFA8-1CF0-399CAF9FC07D}"/>
              </a:ext>
            </a:extLst>
          </p:cNvPr>
          <p:cNvSpPr>
            <a:spLocks noGrp="1"/>
          </p:cNvSpPr>
          <p:nvPr>
            <p:ph type="title"/>
          </p:nvPr>
        </p:nvSpPr>
        <p:spPr>
          <a:xfrm>
            <a:off x="516193" y="1097267"/>
            <a:ext cx="10515600" cy="558675"/>
          </a:xfrm>
        </p:spPr>
        <p:txBody>
          <a:bodyPr>
            <a:noAutofit/>
          </a:bodyPr>
          <a:lstStyle/>
          <a:p>
            <a:r>
              <a:rPr lang="en-US" sz="3600" b="1" dirty="0">
                <a:latin typeface="Aharoni" panose="02010803020104030203" pitchFamily="2" charset="-79"/>
                <a:cs typeface="Aharoni" panose="02010803020104030203" pitchFamily="2" charset="-79"/>
              </a:rPr>
              <a:t>References</a:t>
            </a:r>
            <a:endParaRPr lang="en-IN" sz="3600" b="1" dirty="0">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6753FA19-E5C5-5BF5-1557-09FE4AFF6B90}"/>
              </a:ext>
            </a:extLst>
          </p:cNvPr>
          <p:cNvSpPr>
            <a:spLocks noGrp="1"/>
          </p:cNvSpPr>
          <p:nvPr>
            <p:ph idx="1"/>
          </p:nvPr>
        </p:nvSpPr>
        <p:spPr>
          <a:xfrm>
            <a:off x="671052" y="1655943"/>
            <a:ext cx="11056376" cy="4693874"/>
          </a:xfrm>
        </p:spPr>
        <p:txBody>
          <a:bodyPr>
            <a:normAutofit fontScale="77500" lnSpcReduction="20000"/>
          </a:bodyPr>
          <a:lstStyle/>
          <a:p>
            <a:r>
              <a:rPr lang="en-IN" dirty="0"/>
              <a:t>A. Yadav and A. </a:t>
            </a:r>
            <a:r>
              <a:rPr lang="en-IN" dirty="0" err="1"/>
              <a:t>Swetapadma</a:t>
            </a:r>
            <a:r>
              <a:rPr lang="en-IN" dirty="0"/>
              <a:t>, “Single-ended directional fault section identification using machine learning,” </a:t>
            </a:r>
            <a:r>
              <a:rPr lang="en-IN" i="1" dirty="0"/>
              <a:t>IEEE Transactions on Power Delivery</a:t>
            </a:r>
            <a:r>
              <a:rPr lang="en-IN" dirty="0"/>
              <a:t>, vol. 34, no. 2, pp. 579–588, 2019.</a:t>
            </a:r>
          </a:p>
          <a:p>
            <a:r>
              <a:rPr lang="en-IN" dirty="0"/>
              <a:t>M. Biswal, P. K. Dash, and S. Mishra, “Fault detection using wavelet transform and probabilistic neural network,” </a:t>
            </a:r>
            <a:r>
              <a:rPr lang="en-IN" i="1" dirty="0"/>
              <a:t>IEEE Transactions on Power Delivery</a:t>
            </a:r>
            <a:r>
              <a:rPr lang="en-IN" dirty="0"/>
              <a:t>, vol. 27, no. 1, pp. 467–475, 2012.</a:t>
            </a:r>
          </a:p>
          <a:p>
            <a:r>
              <a:rPr lang="en-IN" dirty="0"/>
              <a:t>P. Ray, D. P. Mishra, and S. R. </a:t>
            </a:r>
            <a:r>
              <a:rPr lang="en-IN" dirty="0" err="1"/>
              <a:t>Samantaray</a:t>
            </a:r>
            <a:r>
              <a:rPr lang="en-IN" dirty="0"/>
              <a:t>, “Fault classification using support vector machines,” </a:t>
            </a:r>
            <a:r>
              <a:rPr lang="en-IN" i="1" dirty="0"/>
              <a:t>IEEE Transactions on Power Delivery</a:t>
            </a:r>
            <a:r>
              <a:rPr lang="en-IN" dirty="0"/>
              <a:t>, vol. 26, no. 4, pp. 2626–2635, 2011.</a:t>
            </a:r>
          </a:p>
          <a:p>
            <a:r>
              <a:rPr lang="en-IN" dirty="0"/>
              <a:t>S. A. </a:t>
            </a:r>
            <a:r>
              <a:rPr lang="en-IN" dirty="0" err="1"/>
              <a:t>Elkalashy</a:t>
            </a:r>
            <a:r>
              <a:rPr lang="en-IN" dirty="0"/>
              <a:t> et al., “AI-based fault classification and location in transmission lines,” </a:t>
            </a:r>
            <a:r>
              <a:rPr lang="en-IN" i="1" dirty="0"/>
              <a:t>IET Generation, Transmission &amp; Distribution</a:t>
            </a:r>
            <a:r>
              <a:rPr lang="en-IN" dirty="0"/>
              <a:t>, vol. 5, no. 5, pp. 525–533, 2011.</a:t>
            </a:r>
          </a:p>
          <a:p>
            <a:r>
              <a:rPr lang="en-IN" dirty="0"/>
              <a:t>M. J. B. Reddy and D. K. Mohanta, “Adaptive fault classification using machine learning,” </a:t>
            </a:r>
            <a:r>
              <a:rPr lang="en-IN" i="1" dirty="0"/>
              <a:t>IEEE Transactions on Smart Grid</a:t>
            </a:r>
            <a:r>
              <a:rPr lang="en-IN" dirty="0"/>
              <a:t>, vol. 7, no. 4, pp. 1982–1991, 2016.</a:t>
            </a:r>
          </a:p>
          <a:p>
            <a:r>
              <a:rPr lang="en-IN" dirty="0"/>
              <a:t>H. </a:t>
            </a:r>
            <a:r>
              <a:rPr lang="en-IN" dirty="0" err="1"/>
              <a:t>Livani</a:t>
            </a:r>
            <a:r>
              <a:rPr lang="en-IN" dirty="0"/>
              <a:t> and C. Y. </a:t>
            </a:r>
            <a:r>
              <a:rPr lang="en-IN" dirty="0" err="1"/>
              <a:t>Evrenosoglu</a:t>
            </a:r>
            <a:r>
              <a:rPr lang="en-IN" dirty="0"/>
              <a:t>, “Fault classification and localization for three-terminal circuits,” </a:t>
            </a:r>
            <a:r>
              <a:rPr lang="en-IN" i="1" dirty="0"/>
              <a:t>IEEE Transactions on Power Delivery</a:t>
            </a:r>
            <a:r>
              <a:rPr lang="en-IN" dirty="0"/>
              <a:t>, vol. 28, no. 4, pp. 2282–2290, 2013.</a:t>
            </a:r>
          </a:p>
          <a:p>
            <a:r>
              <a:rPr lang="en-IN" dirty="0"/>
              <a:t>S. Mishra, C. N. Bhende, and B. K. Panigrahi, “Power system disturbance detection using SVM,” </a:t>
            </a:r>
            <a:r>
              <a:rPr lang="en-IN" i="1" dirty="0"/>
              <a:t>IEEE Transactions on Power Delivery</a:t>
            </a:r>
            <a:r>
              <a:rPr lang="en-IN" dirty="0"/>
              <a:t>, vol. 25, no. 3, pp. 1719–1727, 2010.</a:t>
            </a:r>
          </a:p>
          <a:p>
            <a:pPr marL="0" indent="0">
              <a:buNone/>
            </a:pPr>
            <a:endParaRPr lang="en-IN" dirty="0"/>
          </a:p>
        </p:txBody>
      </p:sp>
      <p:pic>
        <p:nvPicPr>
          <p:cNvPr id="4" name="Google Shape;55;p13">
            <a:extLst>
              <a:ext uri="{FF2B5EF4-FFF2-40B4-BE49-F238E27FC236}">
                <a16:creationId xmlns:a16="http://schemas.microsoft.com/office/drawing/2014/main" id="{77CD913B-5811-63E2-5D74-B3B856102F97}"/>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5" name="Google Shape;56;p13">
            <a:extLst>
              <a:ext uri="{FF2B5EF4-FFF2-40B4-BE49-F238E27FC236}">
                <a16:creationId xmlns:a16="http://schemas.microsoft.com/office/drawing/2014/main" id="{D28165BB-2EB0-B6AF-8831-BAD00AD8C9F4}"/>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6" name="Google Shape;61;p13">
            <a:extLst>
              <a:ext uri="{FF2B5EF4-FFF2-40B4-BE49-F238E27FC236}">
                <a16:creationId xmlns:a16="http://schemas.microsoft.com/office/drawing/2014/main" id="{48ABB19D-C44F-D303-0081-C5FFA71CA250}"/>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506E6F28-2F33-1B70-3B2B-D7496B95E0AD}"/>
              </a:ext>
            </a:extLst>
          </p:cNvPr>
          <p:cNvSpPr txBox="1"/>
          <p:nvPr/>
        </p:nvSpPr>
        <p:spPr>
          <a:xfrm>
            <a:off x="6253316" y="6384098"/>
            <a:ext cx="6233652" cy="369332"/>
          </a:xfrm>
          <a:prstGeom prst="rect">
            <a:avLst/>
          </a:prstGeom>
          <a:noFill/>
        </p:spPr>
        <p:txBody>
          <a:bodyPr wrap="square">
            <a:spAutoFit/>
          </a:bodyPr>
          <a:lstStyle/>
          <a:p>
            <a:r>
              <a:rPr lang="en-US" dirty="0"/>
              <a:t>Department of Electronics &amp; Communication Engineering . 15</a:t>
            </a:r>
            <a:endParaRPr lang="en-IN" dirty="0"/>
          </a:p>
        </p:txBody>
      </p:sp>
    </p:spTree>
    <p:extLst>
      <p:ext uri="{BB962C8B-B14F-4D97-AF65-F5344CB8AC3E}">
        <p14:creationId xmlns:p14="http://schemas.microsoft.com/office/powerpoint/2010/main" val="2488027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55;p13">
            <a:extLst>
              <a:ext uri="{FF2B5EF4-FFF2-40B4-BE49-F238E27FC236}">
                <a16:creationId xmlns:a16="http://schemas.microsoft.com/office/drawing/2014/main" id="{C439BE95-8245-A80E-CF7C-196EE9D2808D}"/>
              </a:ext>
            </a:extLst>
          </p:cNvPr>
          <p:cNvPicPr preferRelativeResize="0"/>
          <p:nvPr/>
        </p:nvPicPr>
        <p:blipFill rotWithShape="1">
          <a:blip r:embed="rId2">
            <a:alphaModFix/>
          </a:blip>
          <a:srcRect t="15763" r="38199" b="64453"/>
          <a:stretch/>
        </p:blipFill>
        <p:spPr>
          <a:xfrm>
            <a:off x="7465357" y="104570"/>
            <a:ext cx="3559278" cy="925718"/>
          </a:xfrm>
          <a:prstGeom prst="rect">
            <a:avLst/>
          </a:prstGeom>
          <a:noFill/>
          <a:ln>
            <a:noFill/>
          </a:ln>
        </p:spPr>
      </p:pic>
      <p:cxnSp>
        <p:nvCxnSpPr>
          <p:cNvPr id="3" name="Google Shape;56;p13">
            <a:extLst>
              <a:ext uri="{FF2B5EF4-FFF2-40B4-BE49-F238E27FC236}">
                <a16:creationId xmlns:a16="http://schemas.microsoft.com/office/drawing/2014/main" id="{0AB8CDEF-8D4A-E885-F134-8D4E6B40196B}"/>
              </a:ext>
            </a:extLst>
          </p:cNvPr>
          <p:cNvCxnSpPr>
            <a:cxnSpLocks/>
          </p:cNvCxnSpPr>
          <p:nvPr/>
        </p:nvCxnSpPr>
        <p:spPr>
          <a:xfrm>
            <a:off x="474404" y="1062189"/>
            <a:ext cx="11253024" cy="0"/>
          </a:xfrm>
          <a:prstGeom prst="straightConnector1">
            <a:avLst/>
          </a:prstGeom>
          <a:noFill/>
          <a:ln w="31750" cap="flat" cmpd="sng">
            <a:solidFill>
              <a:srgbClr val="E4948A"/>
            </a:solidFill>
            <a:prstDash val="solid"/>
            <a:round/>
            <a:headEnd type="none" w="sm" len="sm"/>
            <a:tailEnd type="none" w="sm" len="sm"/>
          </a:ln>
        </p:spPr>
      </p:cxnSp>
      <p:cxnSp>
        <p:nvCxnSpPr>
          <p:cNvPr id="4" name="Google Shape;61;p13">
            <a:extLst>
              <a:ext uri="{FF2B5EF4-FFF2-40B4-BE49-F238E27FC236}">
                <a16:creationId xmlns:a16="http://schemas.microsoft.com/office/drawing/2014/main" id="{253AC453-ACC2-7488-FA4C-79053A2B5E44}"/>
              </a:ext>
            </a:extLst>
          </p:cNvPr>
          <p:cNvCxnSpPr>
            <a:cxnSpLocks/>
          </p:cNvCxnSpPr>
          <p:nvPr/>
        </p:nvCxnSpPr>
        <p:spPr>
          <a:xfrm>
            <a:off x="516193" y="6349818"/>
            <a:ext cx="11159613" cy="0"/>
          </a:xfrm>
          <a:prstGeom prst="straightConnector1">
            <a:avLst/>
          </a:prstGeom>
          <a:noFill/>
          <a:ln w="31750" cap="flat" cmpd="sng">
            <a:solidFill>
              <a:srgbClr val="E4948A"/>
            </a:solidFill>
            <a:prstDash val="solid"/>
            <a:round/>
            <a:headEnd type="none" w="sm" len="sm"/>
            <a:tailEnd type="none" w="sm" len="sm"/>
          </a:ln>
        </p:spPr>
      </p:cxnSp>
      <p:pic>
        <p:nvPicPr>
          <p:cNvPr id="9" name="Picture 8">
            <a:extLst>
              <a:ext uri="{FF2B5EF4-FFF2-40B4-BE49-F238E27FC236}">
                <a16:creationId xmlns:a16="http://schemas.microsoft.com/office/drawing/2014/main" id="{778692EC-4D2C-2FD8-CB7C-A9F47925BE39}"/>
              </a:ext>
            </a:extLst>
          </p:cNvPr>
          <p:cNvPicPr>
            <a:picLocks noChangeAspect="1"/>
          </p:cNvPicPr>
          <p:nvPr/>
        </p:nvPicPr>
        <p:blipFill>
          <a:blip r:embed="rId3"/>
          <a:stretch>
            <a:fillRect/>
          </a:stretch>
        </p:blipFill>
        <p:spPr>
          <a:xfrm>
            <a:off x="2534573" y="1370996"/>
            <a:ext cx="5962650" cy="4866659"/>
          </a:xfrm>
          <a:prstGeom prst="rect">
            <a:avLst/>
          </a:prstGeom>
        </p:spPr>
      </p:pic>
      <p:sp>
        <p:nvSpPr>
          <p:cNvPr id="6" name="TextBox 5">
            <a:extLst>
              <a:ext uri="{FF2B5EF4-FFF2-40B4-BE49-F238E27FC236}">
                <a16:creationId xmlns:a16="http://schemas.microsoft.com/office/drawing/2014/main" id="{2003DECD-B8D0-79F8-CB2C-6179CC683E23}"/>
              </a:ext>
            </a:extLst>
          </p:cNvPr>
          <p:cNvSpPr txBox="1"/>
          <p:nvPr/>
        </p:nvSpPr>
        <p:spPr>
          <a:xfrm>
            <a:off x="6292645" y="6384098"/>
            <a:ext cx="6096000" cy="369332"/>
          </a:xfrm>
          <a:prstGeom prst="rect">
            <a:avLst/>
          </a:prstGeom>
          <a:noFill/>
        </p:spPr>
        <p:txBody>
          <a:bodyPr wrap="square">
            <a:spAutoFit/>
          </a:bodyPr>
          <a:lstStyle/>
          <a:p>
            <a:r>
              <a:rPr lang="en-US" dirty="0"/>
              <a:t>Department of Electronics &amp; Communication Engineering . </a:t>
            </a:r>
            <a:r>
              <a:rPr lang="en-US"/>
              <a:t>16</a:t>
            </a:r>
            <a:endParaRPr lang="en-IN" dirty="0"/>
          </a:p>
        </p:txBody>
      </p:sp>
    </p:spTree>
    <p:extLst>
      <p:ext uri="{BB962C8B-B14F-4D97-AF65-F5344CB8AC3E}">
        <p14:creationId xmlns:p14="http://schemas.microsoft.com/office/powerpoint/2010/main" val="2304958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55;p13">
            <a:extLst>
              <a:ext uri="{FF2B5EF4-FFF2-40B4-BE49-F238E27FC236}">
                <a16:creationId xmlns:a16="http://schemas.microsoft.com/office/drawing/2014/main" id="{CBB476F3-1ABB-0B0A-F04F-CCC0D18E60A9}"/>
              </a:ext>
            </a:extLst>
          </p:cNvPr>
          <p:cNvPicPr preferRelativeResize="0"/>
          <p:nvPr/>
        </p:nvPicPr>
        <p:blipFill rotWithShape="1">
          <a:blip r:embed="rId2">
            <a:alphaModFix/>
          </a:blip>
          <a:srcRect t="15763" r="38199" b="64453"/>
          <a:stretch/>
        </p:blipFill>
        <p:spPr>
          <a:xfrm>
            <a:off x="7701118" y="-28993"/>
            <a:ext cx="3559278" cy="970601"/>
          </a:xfrm>
          <a:prstGeom prst="rect">
            <a:avLst/>
          </a:prstGeom>
          <a:noFill/>
          <a:ln>
            <a:noFill/>
          </a:ln>
        </p:spPr>
      </p:pic>
      <p:cxnSp>
        <p:nvCxnSpPr>
          <p:cNvPr id="4" name="Google Shape;56;p13">
            <a:extLst>
              <a:ext uri="{FF2B5EF4-FFF2-40B4-BE49-F238E27FC236}">
                <a16:creationId xmlns:a16="http://schemas.microsoft.com/office/drawing/2014/main" id="{299A6720-A349-37DE-21C3-12D2669ED625}"/>
              </a:ext>
            </a:extLst>
          </p:cNvPr>
          <p:cNvCxnSpPr>
            <a:cxnSpLocks/>
          </p:cNvCxnSpPr>
          <p:nvPr/>
        </p:nvCxnSpPr>
        <p:spPr>
          <a:xfrm>
            <a:off x="577644" y="757083"/>
            <a:ext cx="11253024" cy="0"/>
          </a:xfrm>
          <a:prstGeom prst="straightConnector1">
            <a:avLst/>
          </a:prstGeom>
          <a:noFill/>
          <a:ln w="31750" cap="flat" cmpd="sng">
            <a:solidFill>
              <a:srgbClr val="E4948A"/>
            </a:solidFill>
            <a:prstDash val="solid"/>
            <a:round/>
            <a:headEnd type="none" w="sm" len="sm"/>
            <a:tailEnd type="none" w="sm" len="sm"/>
          </a:ln>
        </p:spPr>
      </p:cxnSp>
      <p:cxnSp>
        <p:nvCxnSpPr>
          <p:cNvPr id="7" name="Google Shape;61;p13">
            <a:extLst>
              <a:ext uri="{FF2B5EF4-FFF2-40B4-BE49-F238E27FC236}">
                <a16:creationId xmlns:a16="http://schemas.microsoft.com/office/drawing/2014/main" id="{806DD288-C6C0-419D-E782-802D7B21F9E7}"/>
              </a:ext>
            </a:extLst>
          </p:cNvPr>
          <p:cNvCxnSpPr>
            <a:cxnSpLocks/>
          </p:cNvCxnSpPr>
          <p:nvPr/>
        </p:nvCxnSpPr>
        <p:spPr>
          <a:xfrm>
            <a:off x="577644" y="6191019"/>
            <a:ext cx="11159613" cy="0"/>
          </a:xfrm>
          <a:prstGeom prst="straightConnector1">
            <a:avLst/>
          </a:prstGeom>
          <a:noFill/>
          <a:ln w="31750" cap="flat" cmpd="sng">
            <a:solidFill>
              <a:srgbClr val="E4948A"/>
            </a:solidFill>
            <a:prstDash val="solid"/>
            <a:round/>
            <a:headEnd type="none" w="sm" len="sm"/>
            <a:tailEnd type="none" w="sm" len="sm"/>
          </a:ln>
        </p:spPr>
      </p:cxnSp>
      <p:sp>
        <p:nvSpPr>
          <p:cNvPr id="8" name="TextBox 7">
            <a:extLst>
              <a:ext uri="{FF2B5EF4-FFF2-40B4-BE49-F238E27FC236}">
                <a16:creationId xmlns:a16="http://schemas.microsoft.com/office/drawing/2014/main" id="{9DA08415-3251-EEE3-E2B2-1AB7A0781FAA}"/>
              </a:ext>
            </a:extLst>
          </p:cNvPr>
          <p:cNvSpPr txBox="1"/>
          <p:nvPr/>
        </p:nvSpPr>
        <p:spPr>
          <a:xfrm>
            <a:off x="6272984" y="6397775"/>
            <a:ext cx="6238566" cy="369332"/>
          </a:xfrm>
          <a:prstGeom prst="rect">
            <a:avLst/>
          </a:prstGeom>
          <a:noFill/>
        </p:spPr>
        <p:txBody>
          <a:bodyPr wrap="square">
            <a:spAutoFit/>
          </a:bodyPr>
          <a:lstStyle/>
          <a:p>
            <a:r>
              <a:rPr lang="en-US" dirty="0"/>
              <a:t>Department of Electronics &amp; Communication Engineering . 13</a:t>
            </a:r>
            <a:endParaRPr lang="en-IN" dirty="0"/>
          </a:p>
        </p:txBody>
      </p:sp>
    </p:spTree>
    <p:extLst>
      <p:ext uri="{BB962C8B-B14F-4D97-AF65-F5344CB8AC3E}">
        <p14:creationId xmlns:p14="http://schemas.microsoft.com/office/powerpoint/2010/main" val="19534597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2100</TotalTime>
  <Words>2457</Words>
  <Application>Microsoft Office PowerPoint</Application>
  <PresentationFormat>Widescreen</PresentationFormat>
  <Paragraphs>163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Aharoni</vt:lpstr>
      <vt:lpstr>Arial</vt:lpstr>
      <vt:lpstr>Calibri</vt:lpstr>
      <vt:lpstr>Calibri Light</vt:lpstr>
      <vt:lpstr>Office Theme</vt:lpstr>
      <vt:lpstr>PowerPoint Presentation</vt:lpstr>
      <vt:lpstr>PowerPoint Presentation</vt:lpstr>
      <vt:lpstr>PowerPoint Presentation</vt:lpstr>
      <vt:lpstr>Problem Statement</vt:lpstr>
      <vt:lpstr>Objectives</vt:lpstr>
      <vt:lpstr>Dataset</vt:lpstr>
      <vt:lpstr>Literature Survey</vt:lpstr>
      <vt:lpstr>State Of the Art Metric Used:</vt:lpstr>
      <vt:lpstr>Trends in Fault Detection and Classification</vt:lpstr>
      <vt:lpstr>Research Gaps Identified</vt:lpstr>
      <vt:lpstr>Block Diagram</vt:lpstr>
      <vt:lpstr>Methodology</vt:lpstr>
      <vt:lpstr>Methodology</vt:lpstr>
      <vt:lpstr>Methodology</vt:lpstr>
      <vt:lpstr>PowerPoint Presentation</vt:lpstr>
      <vt:lpstr>RESULTS:</vt:lpstr>
      <vt:lpstr>PowerPoint Presentation</vt:lpstr>
      <vt:lpstr>Conclusion</vt:lpstr>
      <vt:lpstr>Future Work</vt:lpstr>
      <vt:lpstr>References</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iamveeresh2005@gmail.com</dc:creator>
  <cp:lastModifiedBy>priya shettar</cp:lastModifiedBy>
  <cp:revision>21</cp:revision>
  <dcterms:created xsi:type="dcterms:W3CDTF">2026-01-10T16:12:24Z</dcterms:created>
  <dcterms:modified xsi:type="dcterms:W3CDTF">2026-01-19T03:52:43Z</dcterms:modified>
</cp:coreProperties>
</file>